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b1a4718d2e4b72" /><Relationship Type="http://schemas.openxmlformats.org/officeDocument/2006/relationships/extended-properties" Target="/docProps/app.xml" Id="Rb78fba34681a4008" /><Relationship Type="http://schemas.openxmlformats.org/officeDocument/2006/relationships/officeDocument" Target="/ppt/presentation.xml" Id="R5d773b62fb304d08" /></Relationships>
</file>

<file path=ppt/presentation.xml><?xml version="1.0" encoding="utf-8"?>
<p:presentation xmlns:p="http://schemas.openxmlformats.org/presentationml/2006/main">
  <p:sldMasterIdLst>
    <p:sldMasterId xmlns:r="http://schemas.openxmlformats.org/officeDocument/2006/relationships" id="2147483648" r:id="Re9f100f142224a0e"/>
  </p:sldMasterIdLst>
  <p:notesMasterIdLst>
    <p:notesMasterId xmlns:r="http://schemas.openxmlformats.org/officeDocument/2006/relationships" r:id="R65130206222c4ba4"/>
  </p:notesMasterIdLst>
  <p:sldIdLst>
    <p:sldId xmlns:r="http://schemas.openxmlformats.org/officeDocument/2006/relationships" id="256" r:id="Ra2fbe244a8dd4ff0"/>
    <p:sldId xmlns:r="http://schemas.openxmlformats.org/officeDocument/2006/relationships" id="257" r:id="R51ba5d1086bc4a47"/>
    <p:sldId xmlns:r="http://schemas.openxmlformats.org/officeDocument/2006/relationships" id="258" r:id="R267c4ffd602f4a5a"/>
    <p:sldId xmlns:r="http://schemas.openxmlformats.org/officeDocument/2006/relationships" id="259" r:id="Rdc25374862ac4259"/>
    <p:sldId xmlns:r="http://schemas.openxmlformats.org/officeDocument/2006/relationships" id="260" r:id="R76be20eab484451b"/>
    <p:sldId xmlns:r="http://schemas.openxmlformats.org/officeDocument/2006/relationships" id="261" r:id="R8d498b5651d24fd4"/>
    <p:sldId xmlns:r="http://schemas.openxmlformats.org/officeDocument/2006/relationships" id="262" r:id="R952aa719ba2e4fd4"/>
    <p:sldId xmlns:r="http://schemas.openxmlformats.org/officeDocument/2006/relationships" id="263" r:id="Rdc3b1e35be86495b"/>
    <p:sldId xmlns:r="http://schemas.openxmlformats.org/officeDocument/2006/relationships" id="264" r:id="R90615e1a370a454c"/>
    <p:sldId xmlns:r="http://schemas.openxmlformats.org/officeDocument/2006/relationships" id="265" r:id="R4d37d5bf776641e0"/>
    <p:sldId xmlns:r="http://schemas.openxmlformats.org/officeDocument/2006/relationships" id="266" r:id="R1bfc8f696991433e"/>
    <p:sldId xmlns:r="http://schemas.openxmlformats.org/officeDocument/2006/relationships" id="267" r:id="R229ca672a2c54a47"/>
    <p:sldId xmlns:r="http://schemas.openxmlformats.org/officeDocument/2006/relationships" id="268" r:id="R9b29d215d65d4c7d"/>
    <p:sldId xmlns:r="http://schemas.openxmlformats.org/officeDocument/2006/relationships" id="269" r:id="R2abd4d3189cd4729"/>
    <p:sldId xmlns:r="http://schemas.openxmlformats.org/officeDocument/2006/relationships" id="270" r:id="Rdf3b24cb08ff474f"/>
    <p:sldId xmlns:r="http://schemas.openxmlformats.org/officeDocument/2006/relationships" id="271" r:id="Ree635d75cc3c4e86"/>
    <p:sldId xmlns:r="http://schemas.openxmlformats.org/officeDocument/2006/relationships" id="272" r:id="R8ddc58a9bbd548f3"/>
    <p:sldId xmlns:r="http://schemas.openxmlformats.org/officeDocument/2006/relationships" id="273" r:id="R10809f5363a84c4b"/>
    <p:sldId xmlns:r="http://schemas.openxmlformats.org/officeDocument/2006/relationships" id="274" r:id="Rf23317aaeae74475"/>
    <p:sldId xmlns:r="http://schemas.openxmlformats.org/officeDocument/2006/relationships" id="275" r:id="R70953607908d4ee3"/>
    <p:sldId xmlns:r="http://schemas.openxmlformats.org/officeDocument/2006/relationships" id="276" r:id="Rd3c6ae83d93b4b47"/>
    <p:sldId xmlns:r="http://schemas.openxmlformats.org/officeDocument/2006/relationships" id="277" r:id="R5f61572e4cdb45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af3ce724124aa0" /><Relationship Type="http://schemas.openxmlformats.org/officeDocument/2006/relationships/slideMaster" Target="/ppt/slideMasters/slideMaster1.xml" Id="Re9f100f142224a0e" /><Relationship Type="http://schemas.openxmlformats.org/officeDocument/2006/relationships/notesMaster" Target="/ppt/notesMasters/notesMaster1.xml" Id="R65130206222c4ba4" /><Relationship Type="http://schemas.openxmlformats.org/officeDocument/2006/relationships/presProps" Target="/ppt/presProps.xml" Id="R4606903c25d44431" /><Relationship Type="http://schemas.openxmlformats.org/officeDocument/2006/relationships/tableStyles" Target="/ppt/tableStyles.xml" Id="R6af05dc90a0d4027" /><Relationship Type="http://schemas.openxmlformats.org/officeDocument/2006/relationships/slide" Target="/ppt/slides/slide1.xml" Id="Ra2fbe244a8dd4ff0" /><Relationship Type="http://schemas.openxmlformats.org/officeDocument/2006/relationships/slide" Target="/ppt/slides/slide2.xml" Id="R51ba5d1086bc4a47" /><Relationship Type="http://schemas.openxmlformats.org/officeDocument/2006/relationships/slide" Target="/ppt/slides/slide3.xml" Id="R267c4ffd602f4a5a" /><Relationship Type="http://schemas.openxmlformats.org/officeDocument/2006/relationships/slide" Target="/ppt/slides/slide4.xml" Id="Rdc25374862ac4259" /><Relationship Type="http://schemas.openxmlformats.org/officeDocument/2006/relationships/slide" Target="/ppt/slides/slide5.xml" Id="R76be20eab484451b" /><Relationship Type="http://schemas.openxmlformats.org/officeDocument/2006/relationships/slide" Target="/ppt/slides/slide6.xml" Id="R8d498b5651d24fd4" /><Relationship Type="http://schemas.openxmlformats.org/officeDocument/2006/relationships/slide" Target="/ppt/slides/slide7.xml" Id="R952aa719ba2e4fd4" /><Relationship Type="http://schemas.openxmlformats.org/officeDocument/2006/relationships/slide" Target="/ppt/slides/slide8.xml" Id="Rdc3b1e35be86495b" /><Relationship Type="http://schemas.openxmlformats.org/officeDocument/2006/relationships/slide" Target="/ppt/slides/slide9.xml" Id="R90615e1a370a454c" /><Relationship Type="http://schemas.openxmlformats.org/officeDocument/2006/relationships/slide" Target="/ppt/slides/slide10.xml" Id="R4d37d5bf776641e0" /><Relationship Type="http://schemas.openxmlformats.org/officeDocument/2006/relationships/slide" Target="/ppt/slides/slide11.xml" Id="R1bfc8f696991433e" /><Relationship Type="http://schemas.openxmlformats.org/officeDocument/2006/relationships/slide" Target="/ppt/slides/slide12.xml" Id="R229ca672a2c54a47" /><Relationship Type="http://schemas.openxmlformats.org/officeDocument/2006/relationships/slide" Target="/ppt/slides/slide13.xml" Id="R9b29d215d65d4c7d" /><Relationship Type="http://schemas.openxmlformats.org/officeDocument/2006/relationships/slide" Target="/ppt/slides/slide14.xml" Id="R2abd4d3189cd4729" /><Relationship Type="http://schemas.openxmlformats.org/officeDocument/2006/relationships/slide" Target="/ppt/slides/slide15.xml" Id="Rdf3b24cb08ff474f" /><Relationship Type="http://schemas.openxmlformats.org/officeDocument/2006/relationships/slide" Target="/ppt/slides/slide16.xml" Id="Ree635d75cc3c4e86" /><Relationship Type="http://schemas.openxmlformats.org/officeDocument/2006/relationships/slide" Target="/ppt/slides/slide17.xml" Id="R8ddc58a9bbd548f3" /><Relationship Type="http://schemas.openxmlformats.org/officeDocument/2006/relationships/slide" Target="/ppt/slides/slide18.xml" Id="R10809f5363a84c4b" /><Relationship Type="http://schemas.openxmlformats.org/officeDocument/2006/relationships/slide" Target="/ppt/slides/slide19.xml" Id="Rf23317aaeae74475" /><Relationship Type="http://schemas.openxmlformats.org/officeDocument/2006/relationships/slide" Target="/ppt/slides/slide20.xml" Id="R70953607908d4ee3" /><Relationship Type="http://schemas.openxmlformats.org/officeDocument/2006/relationships/slide" Target="/ppt/slides/slide21.xml" Id="Rd3c6ae83d93b4b47" /><Relationship Type="http://schemas.openxmlformats.org/officeDocument/2006/relationships/slide" Target="/ppt/slides/slide22.xml" Id="R5f61572e4cdb45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f793f2141549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49888985d1493e" /><Relationship Type="http://schemas.openxmlformats.org/officeDocument/2006/relationships/notesMaster" Target="/ppt/notesMasters/notesMaster1.xml" Id="R6684d0b0d2d643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04987341034d88" /><Relationship Type="http://schemas.openxmlformats.org/officeDocument/2006/relationships/notesMaster" Target="/ppt/notesMasters/notesMaster1.xml" Id="Rcab2620e51b048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e7a6b1b0f444c" /><Relationship Type="http://schemas.openxmlformats.org/officeDocument/2006/relationships/notesMaster" Target="/ppt/notesMasters/notesMaster1.xml" Id="Re1f3743fcf5f42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83c97400894f93" /><Relationship Type="http://schemas.openxmlformats.org/officeDocument/2006/relationships/notesMaster" Target="/ppt/notesMasters/notesMaster1.xml" Id="R2412e2f3b54c4c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4be074a7944896" /><Relationship Type="http://schemas.openxmlformats.org/officeDocument/2006/relationships/notesMaster" Target="/ppt/notesMasters/notesMaster1.xml" Id="Ra4c0188342c945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52a2f33dd140fd" /><Relationship Type="http://schemas.openxmlformats.org/officeDocument/2006/relationships/notesMaster" Target="/ppt/notesMasters/notesMaster1.xml" Id="R6e126f505dc84f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fdba95cd6a48d7" /><Relationship Type="http://schemas.openxmlformats.org/officeDocument/2006/relationships/notesMaster" Target="/ppt/notesMasters/notesMaster1.xml" Id="R385e5105890b49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366ccbb6af4e8f" /><Relationship Type="http://schemas.openxmlformats.org/officeDocument/2006/relationships/notesMaster" Target="/ppt/notesMasters/notesMaster1.xml" Id="R3d4996a20f8e4a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49f8aeb336407a" /><Relationship Type="http://schemas.openxmlformats.org/officeDocument/2006/relationships/notesMaster" Target="/ppt/notesMasters/notesMaster1.xml" Id="R5d55d6ce79a24d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9ec18d36574ae0" /><Relationship Type="http://schemas.openxmlformats.org/officeDocument/2006/relationships/notesMaster" Target="/ppt/notesMasters/notesMaster1.xml" Id="R2075df36648448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d4adaa733e4a0b" /><Relationship Type="http://schemas.openxmlformats.org/officeDocument/2006/relationships/notesMaster" Target="/ppt/notesMasters/notesMaster1.xml" Id="Rd6a652e0876940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de3a1b8b2a41ea" /><Relationship Type="http://schemas.openxmlformats.org/officeDocument/2006/relationships/notesMaster" Target="/ppt/notesMasters/notesMaster1.xml" Id="R073a1f299f1e49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3f134112fb4579" /><Relationship Type="http://schemas.openxmlformats.org/officeDocument/2006/relationships/notesMaster" Target="/ppt/notesMasters/notesMaster1.xml" Id="R5480fa04b3274b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1cf7148bf144e2" /><Relationship Type="http://schemas.openxmlformats.org/officeDocument/2006/relationships/notesMaster" Target="/ppt/notesMasters/notesMaster1.xml" Id="R4719619e32b04d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7153cda4f44565" /><Relationship Type="http://schemas.openxmlformats.org/officeDocument/2006/relationships/notesMaster" Target="/ppt/notesMasters/notesMaster1.xml" Id="R6bb04e9a898143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03f313b56b4bfb" /><Relationship Type="http://schemas.openxmlformats.org/officeDocument/2006/relationships/notesMaster" Target="/ppt/notesMasters/notesMaster1.xml" Id="Re233428b6b8446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d0c2c9b93440b6" /><Relationship Type="http://schemas.openxmlformats.org/officeDocument/2006/relationships/notesMaster" Target="/ppt/notesMasters/notesMaster1.xml" Id="Rfb19adeaf60241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94e60006514be5" /><Relationship Type="http://schemas.openxmlformats.org/officeDocument/2006/relationships/notesMaster" Target="/ppt/notesMasters/notesMaster1.xml" Id="Rade0370ca94c4f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d748e9a9fd467a" /><Relationship Type="http://schemas.openxmlformats.org/officeDocument/2006/relationships/notesMaster" Target="/ppt/notesMasters/notesMaster1.xml" Id="Re8437022ed7b4d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19ea272b8d42c7" /><Relationship Type="http://schemas.openxmlformats.org/officeDocument/2006/relationships/notesMaster" Target="/ppt/notesMasters/notesMaster1.xml" Id="Ra639ba85abde4b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be4e7201674e16" /><Relationship Type="http://schemas.openxmlformats.org/officeDocument/2006/relationships/notesMaster" Target="/ppt/notesMasters/notesMaster1.xml" Id="Rec2d113dd9d940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47fee267d647f3" /><Relationship Type="http://schemas.openxmlformats.org/officeDocument/2006/relationships/notesMaster" Target="/ppt/notesMasters/notesMaster1.xml" Id="Rc2059073d4c043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course as a guided exploration of the restored Kollab team. The team includes Features, Technical Implementation, and Training &amp; Workshops. This is sample documentation, not production data. Suggested duration: 60–75 minutes. Open the team handbook before starting.</a:t>
            </a:r>
          </a:p>
          <a:p xmlns:a="http://schemas.openxmlformats.org/drawingml/2006/main">
            <a:r>
              <a:t/>
            </a:r>
          </a:p>
          <a:p xmlns:a="http://schemas.openxmlformats.org/drawingml/2006/main">
            <a:r>
              <a:t>Repository sources:</a:t>
            </a:r>
          </a:p>
          <a:p xmlns:a="http://schemas.openxmlformats.org/drawingml/2006/main">
            <a:r>
              <a:t>examples/kollab-team/pages/welcome.md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which role they play: author, reviewer, administrator, or developer. Explain that the deck introduces a workflow, then the handbook provides the detailed instructions. Reserve time for the three workshops. Use the Features project to orient the audience.</a:t>
            </a:r>
          </a:p>
          <a:p xmlns:a="http://schemas.openxmlformats.org/drawingml/2006/main">
            <a:r>
              <a:t/>
            </a:r>
          </a:p>
          <a:p xmlns:a="http://schemas.openxmlformats.org/drawingml/2006/main">
            <a:r>
              <a:t>Repository sources:</a:t>
            </a:r>
          </a:p>
          <a:p xmlns:a="http://schemas.openxmlformats.org/drawingml/2006/main">
            <a:r>
              <a:t>examples/kollab-team/pages/training-home.md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Teams directory, open Kollab, and switch between its three projects. Expand a page tree. Explain personal spaces separately: they support an individual's content; this package demonstrates team and project scope. Avoid treating the hierarchy as the complete permissions model.</a:t>
            </a:r>
          </a:p>
          <a:p xmlns:a="http://schemas.openxmlformats.org/drawingml/2006/main">
            <a:r>
              <a:t/>
            </a:r>
          </a:p>
          <a:p xmlns:a="http://schemas.openxmlformats.org/drawingml/2006/main">
            <a:r>
              <a:t>Repository sources:</a:t>
            </a:r>
          </a:p>
          <a:p xmlns:a="http://schemas.openxmlformats.org/drawingml/2006/main">
            <a:r>
              <a:t>user_guide/teams_directory.md</a:t>
            </a:r>
          </a:p>
          <a:p xmlns:a="http://schemas.openxmlformats.org/drawingml/2006/main">
            <a:r>
              <a:t>user_guide/project_portal.md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Knowledge directory and compare the page index with the Area properties report. The report has real indexed rows in the archive. Semantic search needs a compatible configured embedding provider; do not imply that search enrichment is always available. Have a participant find the recovery instructions.</a:t>
            </a:r>
          </a:p>
          <a:p xmlns:a="http://schemas.openxmlformats.org/drawingml/2006/main">
            <a:r>
              <a:t/>
            </a:r>
          </a:p>
          <a:p xmlns:a="http://schemas.openxmlformats.org/drawingml/2006/main">
            <a:r>
              <a:t>Repository sources:</a:t>
            </a:r>
          </a:p>
          <a:p xmlns:a="http://schemas.openxmlformats.org/drawingml/2006/main">
            <a:r>
              <a:t>user_guide/search.md</a:t>
            </a:r>
          </a:p>
          <a:p xmlns:a="http://schemas.openxmlformats.org/drawingml/2006/main">
            <a:r>
              <a:t>examples/kollab-team/pages/knowledge-directory.md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Rich authoring demonstration. Switch between Read and Edit. Show slash-command discovery on an empty paragraph and dismiss it without changing the page. Explain that visible controls depend on access, and the server still enforces permissions.</a:t>
            </a:r>
          </a:p>
          <a:p xmlns:a="http://schemas.openxmlformats.org/drawingml/2006/main">
            <a:r>
              <a:t/>
            </a:r>
          </a:p>
          <a:p xmlns:a="http://schemas.openxmlformats.org/drawingml/2006/main">
            <a:r>
              <a:t>Repository sources:</a:t>
            </a:r>
          </a:p>
          <a:p xmlns:a="http://schemas.openxmlformats.org/drawingml/2006/main">
            <a:r>
              <a:t>user_guide/readonly_edit_modes.md</a:t>
            </a:r>
          </a:p>
          <a:p xmlns:a="http://schemas.openxmlformats.org/drawingml/2006/main">
            <a:r>
              <a:t>user_guide/editor_macros.md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authoring demonstration page and explain why each block appears. Change an inline status label, then point out that this does not change the page's governance review state. Use one task checkbox. Status and date chips can be configured in Edit mode.</a:t>
            </a:r>
          </a:p>
          <a:p xmlns:a="http://schemas.openxmlformats.org/drawingml/2006/main">
            <a:r>
              <a:t/>
            </a:r>
          </a:p>
          <a:p xmlns:a="http://schemas.openxmlformats.org/drawingml/2006/main">
            <a:r>
              <a:t>Repository sources:</a:t>
            </a:r>
          </a:p>
          <a:p xmlns:a="http://schemas.openxmlformats.org/drawingml/2006/main">
            <a:r>
              <a:t>examples/kollab-team/pages/authoring-demo.md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 the milestone explanation. Switch Author, Reviewer, and Operator tabs. Scroll to the two-column comparison. Ask whether each layout makes the page easier to use. Emphasize that plain prose remains appropriate for most explanations. Check narrow-screen readability if presenting mobile use.</a:t>
            </a:r>
          </a:p>
          <a:p xmlns:a="http://schemas.openxmlformats.org/drawingml/2006/main">
            <a:r>
              <a:t/>
            </a:r>
          </a:p>
          <a:p xmlns:a="http://schemas.openxmlformats.org/drawingml/2006/main">
            <a:r>
              <a:t>Repository sources:</a:t>
            </a:r>
          </a:p>
          <a:p xmlns:a="http://schemas.openxmlformats.org/drawingml/2006/main">
            <a:r>
              <a:t>examples/kollab-team/pages/authoring-demo.md</a:t>
            </a:r>
          </a:p>
          <a:p xmlns:a="http://schemas.openxmlformats.org/drawingml/2006/main">
            <a:r>
              <a:t>user_guide/mobile.md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Architecture walkthrough, then inspect a Mermaid block in Edit mode. Explain that the small source sample on this slide is illustrative. Draw.io loads an external editor; Excalidraw uses a bundled component. The integration-boundaries page has clearly labeled blank canvases for practice.</a:t>
            </a:r>
          </a:p>
          <a:p xmlns:a="http://schemas.openxmlformats.org/drawingml/2006/main">
            <a:r>
              <a:t/>
            </a:r>
          </a:p>
          <a:p xmlns:a="http://schemas.openxmlformats.org/drawingml/2006/main">
            <a:r>
              <a:t>Repository sources:</a:t>
            </a:r>
          </a:p>
          <a:p xmlns:a="http://schemas.openxmlformats.org/drawingml/2006/main">
            <a:r>
              <a:t>examples/kollab-team/pages/architecture.md</a:t>
            </a:r>
          </a:p>
          <a:p xmlns:a="http://schemas.openxmlformats.org/drawingml/2006/main">
            <a:r>
              <a:t>frontend/src/components/MacroBlockView.tsx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Reusable knowledge and show the included product description from the team handbook. Compare it with the Technical decision template and Validation note snippet. Explain that a template is starting content and does not synchronize later edits into existing pages.</a:t>
            </a:r>
          </a:p>
          <a:p xmlns:a="http://schemas.openxmlformats.org/drawingml/2006/main">
            <a:r>
              <a:t/>
            </a:r>
          </a:p>
          <a:p xmlns:a="http://schemas.openxmlformats.org/drawingml/2006/main">
            <a:r>
              <a:t>Repository sources:</a:t>
            </a:r>
          </a:p>
          <a:p xmlns:a="http://schemas.openxmlformats.org/drawingml/2006/main">
            <a:r>
              <a:t>examples/kollab-team/pages/reuse-demo.md</a:t>
            </a:r>
          </a:p>
          <a:p xmlns:a="http://schemas.openxmlformats.org/drawingml/2006/main">
            <a:r>
              <a:t>user_guide/templates.md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the Area, Audience, and Availability properties on a feature page. Return to the report. The source document is authoritative; the normalized index makes cross-page queries practical. Ask participants to name a useful property for their own workspace.</a:t>
            </a:r>
          </a:p>
          <a:p xmlns:a="http://schemas.openxmlformats.org/drawingml/2006/main">
            <a:r>
              <a:t/>
            </a:r>
          </a:p>
          <a:p xmlns:a="http://schemas.openxmlformats.org/drawingml/2006/main">
            <a:r>
              <a:t>Repository sources:</a:t>
            </a:r>
          </a:p>
          <a:p xmlns:a="http://schemas.openxmlformats.org/drawingml/2006/main">
            <a:r>
              <a:t>design/03_macros_and_plugins.md</a:t>
            </a:r>
          </a:p>
          <a:p xmlns:a="http://schemas.openxmlformats.org/drawingml/2006/main">
            <a:r>
              <a:t>api/internal/postgres/migrations/0004_document_properties.sql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training materials page and download this PowerPoint. Show the Markdown instructor guide beside it. Office previews require the media-preview service; downloading does not depend on successful preview generation. Image libraries provide a separate workflow for reusable images.</a:t>
            </a:r>
          </a:p>
          <a:p xmlns:a="http://schemas.openxmlformats.org/drawingml/2006/main">
            <a:r>
              <a:t/>
            </a:r>
          </a:p>
          <a:p xmlns:a="http://schemas.openxmlformats.org/drawingml/2006/main">
            <a:r>
              <a:t>Repository sources:</a:t>
            </a:r>
          </a:p>
          <a:p xmlns:a="http://schemas.openxmlformats.org/drawingml/2006/main">
            <a:r>
              <a:t>user_guide/attachments_and_previews.md</a:t>
            </a:r>
          </a:p>
          <a:p xmlns:a="http://schemas.openxmlformats.org/drawingml/2006/main">
            <a:r>
              <a:t>user_guide/image_library.md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separate workshop accounts for a two-person demonstration. Open the sample comment thread and identify it as illustrative. Show the task assigned to the demo administrator. Task extraction currently recognizes textual @username content; the sample includes that explicit assignee alongside a user mention. Avoid implying that one shared account demonstrates distinct user presence.</a:t>
            </a:r>
          </a:p>
          <a:p xmlns:a="http://schemas.openxmlformats.org/drawingml/2006/main">
            <a:r>
              <a:t/>
            </a:r>
          </a:p>
          <a:p xmlns:a="http://schemas.openxmlformats.org/drawingml/2006/main">
            <a:r>
              <a:t>Repository sources:</a:t>
            </a:r>
          </a:p>
          <a:p xmlns:a="http://schemas.openxmlformats.org/drawingml/2006/main">
            <a:r>
              <a:t>examples/kollab-team/pages/collaboration-demo.md</a:t>
            </a:r>
          </a:p>
          <a:p xmlns:a="http://schemas.openxmlformats.org/drawingml/2006/main">
            <a:r>
              <a:t>api/internal/document/service.go</a:t>
            </a:r>
          </a:p>
          <a:p xmlns:a="http://schemas.openxmlformats.org/drawingml/2006/main">
            <a:r>
              <a:t>design/multi_instance_sync.md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distinctions before demonstrating. Open the content-review block and History on Collaboration laboratory. Point to Training baseline. The sample review state is in review; it does not claim a real approval. Publishing and restoration are actions with separate effects; use a practice page for mutations.</a:t>
            </a:r>
          </a:p>
          <a:p xmlns:a="http://schemas.openxmlformats.org/drawingml/2006/main">
            <a:r>
              <a:t/>
            </a:r>
          </a:p>
          <a:p xmlns:a="http://schemas.openxmlformats.org/drawingml/2006/main">
            <a:r>
              <a:t>Repository sources:</a:t>
            </a:r>
          </a:p>
          <a:p xmlns:a="http://schemas.openxmlformats.org/drawingml/2006/main">
            <a:r>
              <a:t>user_guide/content_reviews.md</a:t>
            </a:r>
          </a:p>
          <a:p xmlns:a="http://schemas.openxmlformats.org/drawingml/2006/main">
            <a:r>
              <a:t>user_guide/version_history.md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access guide. Explain that navigation visibility is not the security boundary. Show page restrictions only on a practice page. Sharing links are separate capabilities with their own scope and settings. Do not use the publicly known source content to infer that restored pages are anonymously readable.</a:t>
            </a:r>
          </a:p>
          <a:p xmlns:a="http://schemas.openxmlformats.org/drawingml/2006/main">
            <a:r>
              <a:t/>
            </a:r>
          </a:p>
          <a:p xmlns:a="http://schemas.openxmlformats.org/drawingml/2006/main">
            <a:r>
              <a:t>Repository sources:</a:t>
            </a:r>
          </a:p>
          <a:p xmlns:a="http://schemas.openxmlformats.org/drawingml/2006/main">
            <a:r>
              <a:t>user_guide/page_access.md</a:t>
            </a:r>
          </a:p>
          <a:p xmlns:a="http://schemas.openxmlformats.org/drawingml/2006/main">
            <a:r>
              <a:t>design/26_confluence_style_permissions.md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critical distinction for administrators. The delivered demonstration archive uses the full-server restore path and must go into a fresh or intentionally disposable target. It does not merge a team into an existing workspace. Explain that full sync preserves unrelated destination data while full restore replaces it.</a:t>
            </a:r>
          </a:p>
          <a:p xmlns:a="http://schemas.openxmlformats.org/drawingml/2006/main">
            <a:r>
              <a:t/>
            </a:r>
          </a:p>
          <a:p xmlns:a="http://schemas.openxmlformats.org/drawingml/2006/main">
            <a:r>
              <a:t>Repository sources:</a:t>
            </a:r>
          </a:p>
          <a:p xmlns:a="http://schemas.openxmlformats.org/drawingml/2006/main">
            <a:r>
              <a:t>user_guide/backups_and_restores.md</a:t>
            </a:r>
          </a:p>
          <a:p xmlns:a="http://schemas.openxmlformats.org/drawingml/2006/main">
            <a:r>
              <a:t>user_guide/synchronization.md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archive contains PostgreSQL rows serialized into JSON, not SQLite and not a SQL dump. The export excludes installation-specific coordination state. The ZIP includes a generated demo administrator account; its password is supplied privately beside the artifact. Restore invalidates editor state.</a:t>
            </a:r>
          </a:p>
          <a:p xmlns:a="http://schemas.openxmlformats.org/drawingml/2006/main">
            <a:r>
              <a:t/>
            </a:r>
          </a:p>
          <a:p xmlns:a="http://schemas.openxmlformats.org/drawingml/2006/main">
            <a:r>
              <a:t>Repository sources:</a:t>
            </a:r>
          </a:p>
          <a:p xmlns:a="http://schemas.openxmlformats.org/drawingml/2006/main">
            <a:r>
              <a:t>api/internal/http/handler/archive.go</a:t>
            </a:r>
          </a:p>
          <a:p xmlns:a="http://schemas.openxmlformats.org/drawingml/2006/main">
            <a:r>
              <a:t>api/internal/postgres/archive.go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full Mermaid architecture diagram in Technical Implementation. Follow one document read through the API to PostgreSQL, then an attachment read to uploads. The browser never connects directly to the database. Office conversion is an additional service, not part of the editor process.</a:t>
            </a:r>
          </a:p>
          <a:p xmlns:a="http://schemas.openxmlformats.org/drawingml/2006/main">
            <a:r>
              <a:t/>
            </a:r>
          </a:p>
          <a:p xmlns:a="http://schemas.openxmlformats.org/drawingml/2006/main">
            <a:r>
              <a:t>Repository sources:</a:t>
            </a:r>
          </a:p>
          <a:p xmlns:a="http://schemas.openxmlformats.org/drawingml/2006/main">
            <a:r>
              <a:t>examples/kollab-team/pages/architecture.md</a:t>
            </a:r>
          </a:p>
          <a:p xmlns:a="http://schemas.openxmlformats.org/drawingml/2006/main">
            <a:r>
              <a:t>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Document model and macro contracts. This minimal sample shows the storage shape, not a complete property example. Explain native container nodes versus atom macroBlock nodes. The showcase validates its generated documents against the actual editor schema so unsupported node names fail verification.</a:t>
            </a:r>
          </a:p>
          <a:p xmlns:a="http://schemas.openxmlformats.org/drawingml/2006/main">
            <a:r>
              <a:t/>
            </a:r>
          </a:p>
          <a:p xmlns:a="http://schemas.openxmlformats.org/drawingml/2006/main">
            <a:r>
              <a:t>Repository sources:</a:t>
            </a:r>
          </a:p>
          <a:p xmlns:a="http://schemas.openxmlformats.org/drawingml/2006/main">
            <a:r>
              <a:t>frontend/src/editor/extensions/MacroBlock.ts</a:t>
            </a:r>
          </a:p>
          <a:p xmlns:a="http://schemas.openxmlformats.org/drawingml/2006/main">
            <a:r>
              <a:t>examples/kollab-team/pages/document-model.md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exactly which services are available in the workshop environment. No live provider credentials are included in this archive. Confluence archive migration is implemented, but a live Confluence embed is not exposed in the current UI. Do not treat historical design documents as evidence that planned controls are delivered.</a:t>
            </a:r>
          </a:p>
          <a:p xmlns:a="http://schemas.openxmlformats.org/drawingml/2006/main">
            <a:r>
              <a:t/>
            </a:r>
          </a:p>
          <a:p xmlns:a="http://schemas.openxmlformats.org/drawingml/2006/main">
            <a:r>
              <a:t>Repository sources:</a:t>
            </a:r>
          </a:p>
          <a:p xmlns:a="http://schemas.openxmlformats.org/drawingml/2006/main">
            <a:r>
              <a:t>user_guide/jira_confluence_integrations.md</a:t>
            </a:r>
          </a:p>
          <a:p xmlns:a="http://schemas.openxmlformats.org/drawingml/2006/main">
            <a:r>
              <a:t>user_guide/production_readiness.md</a:t>
            </a:r>
          </a:p>
          <a:p xmlns:a="http://schemas.openxmlformats.org/drawingml/2006/main">
            <a:r>
              <a:t>frontend/src/components/MacroBlockView.tsx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three workshop pages in Training &amp; Workshops. Participants can complete the first two without reading source code. Developers can use the third to trace a feature across layers. Encourage participants to create their own practice pages so generated source pages remain easy to compare with Git.</a:t>
            </a:r>
          </a:p>
          <a:p xmlns:a="http://schemas.openxmlformats.org/drawingml/2006/main">
            <a:r>
              <a:t/>
            </a:r>
          </a:p>
          <a:p xmlns:a="http://schemas.openxmlformats.org/drawingml/2006/main">
            <a:r>
              <a:t>Repository sources:</a:t>
            </a:r>
          </a:p>
          <a:p xmlns:a="http://schemas.openxmlformats.org/drawingml/2006/main">
            <a:r>
              <a:t>examples/kollab-team/pages/workshop-authoring.md</a:t>
            </a:r>
          </a:p>
          <a:p xmlns:a="http://schemas.openxmlformats.org/drawingml/2006/main">
            <a:r>
              <a:t>examples/kollab-team/pages/workshop-recovery.md</a:t>
            </a:r>
          </a:p>
          <a:p xmlns:a="http://schemas.openxmlformats.org/drawingml/2006/main">
            <a:r>
              <a:t>examples/kollab-team/pages/workshop-technical.md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one-way publication workflow. Editing a restored page does not update Git automatically. Copy intentional changes back to the appropriate source. Stable source keys preserve page IDs. Rebuild after schema changes; never change the migration ledger to force an incompatible restore. Generated passwords and archive ZIPs stay out of Git.</a:t>
            </a:r>
          </a:p>
          <a:p xmlns:a="http://schemas.openxmlformats.org/drawingml/2006/main">
            <a:r>
              <a:t/>
            </a:r>
          </a:p>
          <a:p xmlns:a="http://schemas.openxmlformats.org/drawingml/2006/main">
            <a:r>
              <a:t>Repository sources:</a:t>
            </a:r>
          </a:p>
          <a:p xmlns:a="http://schemas.openxmlformats.org/drawingml/2006/main">
            <a:r>
              <a:t>examples/kollab-team/pages/maintenance.md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each participant to demonstrate one workflow from the readiness checklist. Suggested questions: Does a status badge approve a page? Does restoring this archive merge a team? What service is required for Office previews? End by pointing to the maintained Features and Technical Implementation projects for continued learning.</a:t>
            </a:r>
          </a:p>
          <a:p xmlns:a="http://schemas.openxmlformats.org/drawingml/2006/main">
            <a:r>
              <a:t/>
            </a:r>
          </a:p>
          <a:p xmlns:a="http://schemas.openxmlformats.org/drawingml/2006/main">
            <a:r>
              <a:t>Repository sources:</a:t>
            </a:r>
          </a:p>
          <a:p xmlns:a="http://schemas.openxmlformats.org/drawingml/2006/main">
            <a:r>
              <a:t>examples/kollab-team/pages/assessment.md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72d94014124d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1dc0a707a24394" /><Relationship Type="http://schemas.openxmlformats.org/officeDocument/2006/relationships/slideLayout" Target="/ppt/slideLayouts/slideLayout1.xml" Id="R310aaa00ffe546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0aaa00ffe546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76394aa2574859" /><Relationship Type="http://schemas.openxmlformats.org/officeDocument/2006/relationships/notesSlide" Target="/ppt/notesSlides/notesSlide1.xml" Id="R966c1ae7965c43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bbe05d39134bab" /><Relationship Type="http://schemas.openxmlformats.org/officeDocument/2006/relationships/notesSlide" Target="/ppt/notesSlides/notesSlide2.xml" Id="Rf0ef3d5b979f40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e7e50051a147c2" /><Relationship Type="http://schemas.openxmlformats.org/officeDocument/2006/relationships/notesSlide" Target="/ppt/notesSlides/notesSlide3.xml" Id="R86cb53ff9bfe4b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3b1fb8a71f43e6" /><Relationship Type="http://schemas.openxmlformats.org/officeDocument/2006/relationships/notesSlide" Target="/ppt/notesSlides/notesSlide4.xml" Id="Rb12df1e919254e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ea2ae6b76b4c87" /><Relationship Type="http://schemas.openxmlformats.org/officeDocument/2006/relationships/notesSlide" Target="/ppt/notesSlides/notesSlide5.xml" Id="R9fda1bf700a24f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6b9ca09f024aba" /><Relationship Type="http://schemas.openxmlformats.org/officeDocument/2006/relationships/notesSlide" Target="/ppt/notesSlides/notesSlide6.xml" Id="R9030ed9cffee4f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36d0e1be734165" /><Relationship Type="http://schemas.openxmlformats.org/officeDocument/2006/relationships/notesSlide" Target="/ppt/notesSlides/notesSlide7.xml" Id="Rb606b7fede1e46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5940373a544f7a" /><Relationship Type="http://schemas.openxmlformats.org/officeDocument/2006/relationships/notesSlide" Target="/ppt/notesSlides/notesSlide8.xml" Id="R022fa41338924a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c1f2ecf8fa4c5e" /><Relationship Type="http://schemas.openxmlformats.org/officeDocument/2006/relationships/notesSlide" Target="/ppt/notesSlides/notesSlide9.xml" Id="Raa933256ecdf43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11d4969f024727" /><Relationship Type="http://schemas.openxmlformats.org/officeDocument/2006/relationships/notesSlide" Target="/ppt/notesSlides/notesSlide10.xml" Id="R81113733a7fd42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97207479b24183" /><Relationship Type="http://schemas.openxmlformats.org/officeDocument/2006/relationships/notesSlide" Target="/ppt/notesSlides/notesSlide11.xml" Id="R9fd3abe0e75741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96e5fa013440fb" /><Relationship Type="http://schemas.openxmlformats.org/officeDocument/2006/relationships/notesSlide" Target="/ppt/notesSlides/notesSlide12.xml" Id="R99400f3d1d8d42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d80a6b5fcac4a9f" /><Relationship Type="http://schemas.openxmlformats.org/officeDocument/2006/relationships/notesSlide" Target="/ppt/notesSlides/notesSlide13.xml" Id="Ra842a739e1e34b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289d83c83a4bf7" /><Relationship Type="http://schemas.openxmlformats.org/officeDocument/2006/relationships/notesSlide" Target="/ppt/notesSlides/notesSlide14.xml" Id="R7704bf0eddc04a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8c04e4ff4d430e" /><Relationship Type="http://schemas.openxmlformats.org/officeDocument/2006/relationships/notesSlide" Target="/ppt/notesSlides/notesSlide15.xml" Id="Re570121f306a42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65d1ca69ef43f5" /><Relationship Type="http://schemas.openxmlformats.org/officeDocument/2006/relationships/notesSlide" Target="/ppt/notesSlides/notesSlide16.xml" Id="R24dced917d6e4a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25d948d37594c56" /><Relationship Type="http://schemas.openxmlformats.org/officeDocument/2006/relationships/notesSlide" Target="/ppt/notesSlides/notesSlide17.xml" Id="R405434c25b5b49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2dcd379ee648fb" /><Relationship Type="http://schemas.openxmlformats.org/officeDocument/2006/relationships/notesSlide" Target="/ppt/notesSlides/notesSlide18.xml" Id="R10415f094ac946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5eb81c0fb14def" /><Relationship Type="http://schemas.openxmlformats.org/officeDocument/2006/relationships/notesSlide" Target="/ppt/notesSlides/notesSlide19.xml" Id="R9b861d80320945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5571805b18642e7" /><Relationship Type="http://schemas.openxmlformats.org/officeDocument/2006/relationships/notesSlide" Target="/ppt/notesSlides/notesSlide20.xml" Id="R76bd62c2a1bb4c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f0684bc521445a7" /><Relationship Type="http://schemas.openxmlformats.org/officeDocument/2006/relationships/notesSlide" Target="/ppt/notesSlides/notesSlide21.xml" Id="R5e250e90b01a40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649082d1ce4d24" /><Relationship Type="http://schemas.openxmlformats.org/officeDocument/2006/relationships/notesSlide" Target="/ppt/notesSlides/notesSlide22.xml" Id="Red90798f8ade41f0" /></Relationships>
</file>

<file path=ppt/slides/slide1.xml><?xml version="1.0" encoding="utf-8"?>
<p:sld xmlns:p="http://schemas.openxmlformats.org/presentationml/2006/main">
  <p:cSld>
    <p:bg>
      <p:bgPr>
        <a:solidFill xmlns:a="http://schemas.openxmlformats.org/drawingml/2006/main">
          <a:srgbClr val="2520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6B9367-C7D0-45FC-A984-F131AD8A14A4}"/>
              </a:ext>
            </a:extLst>
          </p:cNvPr>
          <p:cNvSpPr>
            <a:spLocks xmlns:a="http://schemas.openxmlformats.org/drawingml/2006/main" noGrp="1"/>
          </p:cNvSpPr>
          <p:nvPr/>
        </p:nvSpPr>
        <p:spPr>
          <a:xfrm xmlns:a="http://schemas.openxmlformats.org/drawingml/2006/main">
            <a:off x="742950" y="12954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F8F7F3"/>
                </a:solidFill>
                <a:latin typeface="Helvetica Neue"/>
                <a:ea typeface="Helvetica Neue"/>
                <a:cs typeface="Helvetica Neue"/>
              </a:defRPr>
            </a:pPr>
            <a:r>
              <a:rPr sz="7500" b="1">
                <a:solidFill>
                  <a:srgbClr val="F8F7F3"/>
                </a:solidFill>
                <a:latin typeface="Helvetica Neue"/>
                <a:ea typeface="Helvetica Neue"/>
                <a:cs typeface="Helvetica Neue"/>
              </a:rPr>
              <a:t>Kollab</a:t>
            </a:r>
          </a:p>
        </p:txBody>
      </p:sp>
      <p:sp>
        <p:nvSpPr>
          <p:cNvPr id="2" name="">
            <a:extLst xmlns:a="http://schemas.openxmlformats.org/drawingml/2006/main">
              <a:ext uri="{FF2B5EF4-FFF2-40B4-BE49-F238E27FC236}">
                <a16:creationId xmlns:a16="http://schemas.microsoft.com/office/drawing/2014/main" id="{7640529B-1C0A-4BDE-9F05-8295D9E6D7E1}"/>
              </a:ext>
            </a:extLst>
          </p:cNvPr>
          <p:cNvSpPr>
            <a:spLocks xmlns:a="http://schemas.openxmlformats.org/drawingml/2006/main" noGrp="1"/>
          </p:cNvSpPr>
          <p:nvPr/>
        </p:nvSpPr>
        <p:spPr>
          <a:xfrm xmlns:a="http://schemas.openxmlformats.org/drawingml/2006/main">
            <a:off x="781050" y="28003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8F7F3"/>
                </a:solidFill>
                <a:latin typeface="Helvetica Neue"/>
                <a:ea typeface="Helvetica Neue"/>
                <a:cs typeface="Helvetica Neue"/>
              </a:defRPr>
            </a:pPr>
            <a:r>
              <a:rPr sz="3300" b="0">
                <a:solidFill>
                  <a:srgbClr val="F8F7F3"/>
                </a:solidFill>
                <a:latin typeface="Helvetica Neue"/>
                <a:ea typeface="Helvetica Neue"/>
                <a:cs typeface="Helvetica Neue"/>
              </a:rPr>
              <a:t>Capabilities and guided practice</a:t>
            </a:r>
          </a:p>
        </p:txBody>
      </p:sp>
      <p:sp>
        <p:nvSpPr>
          <p:cNvPr id="3" name="">
            <a:extLst xmlns:a="http://schemas.openxmlformats.org/drawingml/2006/main">
              <a:ext uri="{FF2B5EF4-FFF2-40B4-BE49-F238E27FC236}">
                <a16:creationId xmlns:a16="http://schemas.microsoft.com/office/drawing/2014/main" id="{D25389F9-DE36-4BD1-9F6E-B3B9C502E686}"/>
              </a:ext>
            </a:extLst>
          </p:cNvPr>
          <p:cNvSpPr>
            <a:spLocks xmlns:a="http://schemas.openxmlformats.org/drawingml/2006/main" noGrp="1"/>
          </p:cNvSpPr>
          <p:nvPr/>
        </p:nvSpPr>
        <p:spPr>
          <a:xfrm xmlns:a="http://schemas.openxmlformats.org/drawingml/2006/main">
            <a:off x="800100" y="4371975"/>
            <a:ext cx="895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AD4E9"/>
                </a:solidFill>
                <a:latin typeface="Helvetica Neue"/>
                <a:ea typeface="Helvetica Neue"/>
                <a:cs typeface="Helvetica Neue"/>
              </a:defRPr>
            </a:pPr>
            <a:r>
              <a:rPr sz="2100" b="0">
                <a:solidFill>
                  <a:srgbClr val="DAD4E9"/>
                </a:solidFill>
                <a:latin typeface="Helvetica Neue"/>
                <a:ea typeface="Helvetica Neue"/>
                <a:cs typeface="Helvetica Neue"/>
              </a:rPr>
              <a:t>A working handbook for authors, reviewers, and administrators</a:t>
            </a:r>
          </a:p>
        </p:txBody>
      </p:sp>
      <p:sp>
        <p:nvSpPr>
          <p:cNvPr id="4" name="">
            <a:extLst xmlns:a="http://schemas.openxmlformats.org/drawingml/2006/main">
              <a:ext uri="{FF2B5EF4-FFF2-40B4-BE49-F238E27FC236}">
                <a16:creationId xmlns:a16="http://schemas.microsoft.com/office/drawing/2014/main" id="{65092A38-A7BA-4316-93CE-9E39DB1B64C8}"/>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AD4E9"/>
                </a:solidFill>
                <a:latin typeface="Helvetica Neue"/>
                <a:ea typeface="Helvetica Neue"/>
                <a:cs typeface="Helvetica Neue"/>
              </a:defRPr>
            </a:pPr>
            <a:r>
              <a:rPr sz="1350" b="0">
                <a:solidFill>
                  <a:srgbClr val="DAD4E9"/>
                </a:solidFill>
                <a:latin typeface="Helvetica Neue"/>
                <a:ea typeface="Helvetica Neue"/>
                <a:cs typeface="Helvetica Neue"/>
              </a:rPr>
              <a:t>01</a:t>
            </a:r>
          </a:p>
        </p:txBody>
      </p:sp>
    </p:spTree>
    <p:extLst>
      <p:ext uri="{BB962C8B-B14F-4D97-AF65-F5344CB8AC3E}">
        <p14:creationId xmlns:p14="http://schemas.microsoft.com/office/powerpoint/2010/main" val="21654243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EFC21B-7A45-4BBB-8DDE-8086104E6A22}"/>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The learning path</a:t>
            </a:r>
          </a:p>
        </p:txBody>
      </p:sp>
      <p:sp>
        <p:nvSpPr>
          <p:cNvPr id="2" name="">
            <a:extLst xmlns:a="http://schemas.openxmlformats.org/drawingml/2006/main">
              <a:ext uri="{FF2B5EF4-FFF2-40B4-BE49-F238E27FC236}">
                <a16:creationId xmlns:a16="http://schemas.microsoft.com/office/drawing/2014/main" id="{ED590A79-552F-45C7-8787-8004B5E61A85}"/>
              </a:ext>
            </a:extLst>
          </p:cNvPr>
          <p:cNvSpPr>
            <a:spLocks xmlns:a="http://schemas.openxmlformats.org/drawingml/2006/main" noGrp="1"/>
          </p:cNvSpPr>
          <p:nvPr/>
        </p:nvSpPr>
        <p:spPr>
          <a:xfrm xmlns:a="http://schemas.openxmlformats.org/drawingml/2006/main">
            <a:off x="762000" y="20478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9E195ABD-6807-49AD-84AA-6EAC1B126BB6}"/>
              </a:ext>
            </a:extLst>
          </p:cNvPr>
          <p:cNvSpPr>
            <a:spLocks xmlns:a="http://schemas.openxmlformats.org/drawingml/2006/main" noGrp="1"/>
          </p:cNvSpPr>
          <p:nvPr/>
        </p:nvSpPr>
        <p:spPr>
          <a:xfrm xmlns:a="http://schemas.openxmlformats.org/drawingml/2006/main">
            <a:off x="1752600" y="20478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Find and organize knowledge</a:t>
            </a:r>
          </a:p>
        </p:txBody>
      </p:sp>
      <p:sp>
        <p:nvSpPr>
          <p:cNvPr id="4" name="">
            <a:extLst xmlns:a="http://schemas.openxmlformats.org/drawingml/2006/main">
              <a:ext uri="{FF2B5EF4-FFF2-40B4-BE49-F238E27FC236}">
                <a16:creationId xmlns:a16="http://schemas.microsoft.com/office/drawing/2014/main" id="{FEDBA2D3-4850-4316-B769-768292F06923}"/>
              </a:ext>
            </a:extLst>
          </p:cNvPr>
          <p:cNvSpPr>
            <a:spLocks xmlns:a="http://schemas.openxmlformats.org/drawingml/2006/main" noGrp="1"/>
          </p:cNvSpPr>
          <p:nvPr/>
        </p:nvSpPr>
        <p:spPr>
          <a:xfrm xmlns:a="http://schemas.openxmlformats.org/drawingml/2006/main">
            <a:off x="762000" y="29622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CFDDD571-4FF4-4780-8EAA-B84A3651472A}"/>
              </a:ext>
            </a:extLst>
          </p:cNvPr>
          <p:cNvSpPr>
            <a:spLocks xmlns:a="http://schemas.openxmlformats.org/drawingml/2006/main" noGrp="1"/>
          </p:cNvSpPr>
          <p:nvPr/>
        </p:nvSpPr>
        <p:spPr>
          <a:xfrm xmlns:a="http://schemas.openxmlformats.org/drawingml/2006/main">
            <a:off x="1752600" y="29622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Write with useful rich content</a:t>
            </a:r>
          </a:p>
        </p:txBody>
      </p:sp>
      <p:sp>
        <p:nvSpPr>
          <p:cNvPr id="6" name="">
            <a:extLst xmlns:a="http://schemas.openxmlformats.org/drawingml/2006/main">
              <a:ext uri="{FF2B5EF4-FFF2-40B4-BE49-F238E27FC236}">
                <a16:creationId xmlns:a16="http://schemas.microsoft.com/office/drawing/2014/main" id="{05216CA9-A5D1-4AB5-9B75-BF225C6E6F04}"/>
              </a:ext>
            </a:extLst>
          </p:cNvPr>
          <p:cNvSpPr>
            <a:spLocks xmlns:a="http://schemas.openxmlformats.org/drawingml/2006/main" noGrp="1"/>
          </p:cNvSpPr>
          <p:nvPr/>
        </p:nvSpPr>
        <p:spPr>
          <a:xfrm xmlns:a="http://schemas.openxmlformats.org/drawingml/2006/main">
            <a:off x="762000" y="38766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DF1BAC1-867C-4AB5-BC2C-C877C3DD5F71}"/>
              </a:ext>
            </a:extLst>
          </p:cNvPr>
          <p:cNvSpPr>
            <a:spLocks xmlns:a="http://schemas.openxmlformats.org/drawingml/2006/main" noGrp="1"/>
          </p:cNvSpPr>
          <p:nvPr/>
        </p:nvSpPr>
        <p:spPr>
          <a:xfrm xmlns:a="http://schemas.openxmlformats.org/drawingml/2006/main">
            <a:off x="1752600" y="38766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Collaborate, review, and recover</a:t>
            </a:r>
          </a:p>
        </p:txBody>
      </p:sp>
      <p:sp>
        <p:nvSpPr>
          <p:cNvPr id="8" name="">
            <a:extLst xmlns:a="http://schemas.openxmlformats.org/drawingml/2006/main">
              <a:ext uri="{FF2B5EF4-FFF2-40B4-BE49-F238E27FC236}">
                <a16:creationId xmlns:a16="http://schemas.microsoft.com/office/drawing/2014/main" id="{52F9CDE1-3044-42ED-8377-37B5DC62C260}"/>
              </a:ext>
            </a:extLst>
          </p:cNvPr>
          <p:cNvSpPr>
            <a:spLocks xmlns:a="http://schemas.openxmlformats.org/drawingml/2006/main" noGrp="1"/>
          </p:cNvSpPr>
          <p:nvPr/>
        </p:nvSpPr>
        <p:spPr>
          <a:xfrm xmlns:a="http://schemas.openxmlformats.org/drawingml/2006/main">
            <a:off x="762000" y="47910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117D184E-E2D6-4E6F-9271-15C58B18A850}"/>
              </a:ext>
            </a:extLst>
          </p:cNvPr>
          <p:cNvSpPr>
            <a:spLocks xmlns:a="http://schemas.openxmlformats.org/drawingml/2006/main" noGrp="1"/>
          </p:cNvSpPr>
          <p:nvPr/>
        </p:nvSpPr>
        <p:spPr>
          <a:xfrm xmlns:a="http://schemas.openxmlformats.org/drawingml/2006/main">
            <a:off x="1752600" y="47910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Understand the implementation</a:t>
            </a:r>
          </a:p>
        </p:txBody>
      </p:sp>
      <p:sp>
        <p:nvSpPr>
          <p:cNvPr id="10" name="">
            <a:extLst xmlns:a="http://schemas.openxmlformats.org/drawingml/2006/main">
              <a:ext uri="{FF2B5EF4-FFF2-40B4-BE49-F238E27FC236}">
                <a16:creationId xmlns:a16="http://schemas.microsoft.com/office/drawing/2014/main" id="{1982813C-68B8-4431-B0C9-613E2F648B62}"/>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02</a:t>
            </a:r>
          </a:p>
        </p:txBody>
      </p:sp>
    </p:spTree>
    <p:extLst>
      <p:ext uri="{BB962C8B-B14F-4D97-AF65-F5344CB8AC3E}">
        <p14:creationId xmlns:p14="http://schemas.microsoft.com/office/powerpoint/2010/main" val="366534254"/>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84F823-62C0-4FA1-B0B0-B7EA3516DEFD}"/>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Teams, projects, and pages</a:t>
            </a:r>
          </a:p>
        </p:txBody>
      </p:sp>
      <p:sp>
        <p:nvSpPr>
          <p:cNvPr id="2" name="">
            <a:extLst xmlns:a="http://schemas.openxmlformats.org/drawingml/2006/main">
              <a:ext uri="{FF2B5EF4-FFF2-40B4-BE49-F238E27FC236}">
                <a16:creationId xmlns:a16="http://schemas.microsoft.com/office/drawing/2014/main" id="{A12D57C1-7AE5-494D-BBCD-CB85EB18D050}"/>
              </a:ext>
            </a:extLst>
          </p:cNvPr>
          <p:cNvSpPr>
            <a:spLocks xmlns:a="http://schemas.openxmlformats.org/drawingml/2006/main" noGrp="1"/>
          </p:cNvSpPr>
          <p:nvPr/>
        </p:nvSpPr>
        <p:spPr>
          <a:xfrm xmlns:a="http://schemas.openxmlformats.org/drawingml/2006/main">
            <a:off x="742950" y="2095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Organization</a:t>
            </a:r>
          </a:p>
        </p:txBody>
      </p:sp>
      <p:sp>
        <p:nvSpPr>
          <p:cNvPr id="3" name="">
            <a:extLst xmlns:a="http://schemas.openxmlformats.org/drawingml/2006/main">
              <a:ext uri="{FF2B5EF4-FFF2-40B4-BE49-F238E27FC236}">
                <a16:creationId xmlns:a16="http://schemas.microsoft.com/office/drawing/2014/main" id="{99866FA0-DC34-4EC6-AD8C-99F9213408AB}"/>
              </a:ext>
            </a:extLst>
          </p:cNvPr>
          <p:cNvSpPr>
            <a:spLocks xmlns:a="http://schemas.openxmlformats.org/drawingml/2006/main" noGrp="1"/>
          </p:cNvSpPr>
          <p:nvPr/>
        </p:nvSpPr>
        <p:spPr>
          <a:xfrm xmlns:a="http://schemas.openxmlformats.org/drawingml/2006/main">
            <a:off x="6515100" y="2095500"/>
            <a:ext cx="491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This demonstration</a:t>
            </a:r>
          </a:p>
        </p:txBody>
      </p:sp>
      <p:sp>
        <p:nvSpPr>
          <p:cNvPr id="4" name="">
            <a:extLst xmlns:a="http://schemas.openxmlformats.org/drawingml/2006/main">
              <a:ext uri="{FF2B5EF4-FFF2-40B4-BE49-F238E27FC236}">
                <a16:creationId xmlns:a16="http://schemas.microsoft.com/office/drawing/2014/main" id="{64EFE1DE-A5F3-4E0D-9B6E-8BA0058B6E7B}"/>
              </a:ext>
            </a:extLst>
          </p:cNvPr>
          <p:cNvSpPr>
            <a:spLocks xmlns:a="http://schemas.openxmlformats.org/drawingml/2006/main" noGrp="1"/>
          </p:cNvSpPr>
          <p:nvPr/>
        </p:nvSpPr>
        <p:spPr>
          <a:xfrm xmlns:a="http://schemas.openxmlformats.org/drawingml/2006/main">
            <a:off x="742950" y="28003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Teams establish shared context.</a:t>
            </a:r>
          </a:p>
        </p:txBody>
      </p:sp>
      <p:sp>
        <p:nvSpPr>
          <p:cNvPr id="5" name="">
            <a:extLst xmlns:a="http://schemas.openxmlformats.org/drawingml/2006/main">
              <a:ext uri="{FF2B5EF4-FFF2-40B4-BE49-F238E27FC236}">
                <a16:creationId xmlns:a16="http://schemas.microsoft.com/office/drawing/2014/main" id="{083CBB4A-AEFB-4005-B70C-177CC411AE2F}"/>
              </a:ext>
            </a:extLst>
          </p:cNvPr>
          <p:cNvSpPr>
            <a:spLocks xmlns:a="http://schemas.openxmlformats.org/drawingml/2006/main" noGrp="1"/>
          </p:cNvSpPr>
          <p:nvPr/>
        </p:nvSpPr>
        <p:spPr>
          <a:xfrm xmlns:a="http://schemas.openxmlformats.org/drawingml/2006/main">
            <a:off x="742950" y="37147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Projects group a body of work.</a:t>
            </a:r>
          </a:p>
        </p:txBody>
      </p:sp>
      <p:sp>
        <p:nvSpPr>
          <p:cNvPr id="6" name="">
            <a:extLst xmlns:a="http://schemas.openxmlformats.org/drawingml/2006/main">
              <a:ext uri="{FF2B5EF4-FFF2-40B4-BE49-F238E27FC236}">
                <a16:creationId xmlns:a16="http://schemas.microsoft.com/office/drawing/2014/main" id="{67C195E0-C62D-4A1C-B6DB-47A8D791DC79}"/>
              </a:ext>
            </a:extLst>
          </p:cNvPr>
          <p:cNvSpPr>
            <a:spLocks xmlns:a="http://schemas.openxmlformats.org/drawingml/2006/main" noGrp="1"/>
          </p:cNvSpPr>
          <p:nvPr/>
        </p:nvSpPr>
        <p:spPr>
          <a:xfrm xmlns:a="http://schemas.openxmlformats.org/drawingml/2006/main">
            <a:off x="742950" y="46291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Parent pages organize chapters.</a:t>
            </a:r>
          </a:p>
        </p:txBody>
      </p:sp>
      <p:sp>
        <p:nvSpPr>
          <p:cNvPr id="7" name="">
            <a:extLst xmlns:a="http://schemas.openxmlformats.org/drawingml/2006/main">
              <a:ext uri="{FF2B5EF4-FFF2-40B4-BE49-F238E27FC236}">
                <a16:creationId xmlns:a16="http://schemas.microsoft.com/office/drawing/2014/main" id="{08A8A9CE-F0F4-47CD-B335-1320C7B565F0}"/>
              </a:ext>
            </a:extLst>
          </p:cNvPr>
          <p:cNvSpPr>
            <a:spLocks xmlns:a="http://schemas.openxmlformats.org/drawingml/2006/main" noGrp="1"/>
          </p:cNvSpPr>
          <p:nvPr/>
        </p:nvSpPr>
        <p:spPr>
          <a:xfrm xmlns:a="http://schemas.openxmlformats.org/drawingml/2006/main">
            <a:off x="6515100" y="28003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Kollab is the team.</a:t>
            </a:r>
          </a:p>
        </p:txBody>
      </p:sp>
      <p:sp>
        <p:nvSpPr>
          <p:cNvPr id="8" name="">
            <a:extLst xmlns:a="http://schemas.openxmlformats.org/drawingml/2006/main">
              <a:ext uri="{FF2B5EF4-FFF2-40B4-BE49-F238E27FC236}">
                <a16:creationId xmlns:a16="http://schemas.microsoft.com/office/drawing/2014/main" id="{9FA82621-379A-427C-8CC3-15AAF75017E1}"/>
              </a:ext>
            </a:extLst>
          </p:cNvPr>
          <p:cNvSpPr>
            <a:spLocks xmlns:a="http://schemas.openxmlformats.org/drawingml/2006/main" noGrp="1"/>
          </p:cNvSpPr>
          <p:nvPr/>
        </p:nvSpPr>
        <p:spPr>
          <a:xfrm xmlns:a="http://schemas.openxmlformats.org/drawingml/2006/main">
            <a:off x="6515100" y="37147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Features and Technical Implementation form the handbook.</a:t>
            </a:r>
          </a:p>
        </p:txBody>
      </p:sp>
      <p:sp>
        <p:nvSpPr>
          <p:cNvPr id="9" name="">
            <a:extLst xmlns:a="http://schemas.openxmlformats.org/drawingml/2006/main">
              <a:ext uri="{FF2B5EF4-FFF2-40B4-BE49-F238E27FC236}">
                <a16:creationId xmlns:a16="http://schemas.microsoft.com/office/drawing/2014/main" id="{A4E44505-6F8A-4E35-9FDB-EB4D05127599}"/>
              </a:ext>
            </a:extLst>
          </p:cNvPr>
          <p:cNvSpPr>
            <a:spLocks xmlns:a="http://schemas.openxmlformats.org/drawingml/2006/main" noGrp="1"/>
          </p:cNvSpPr>
          <p:nvPr/>
        </p:nvSpPr>
        <p:spPr>
          <a:xfrm xmlns:a="http://schemas.openxmlformats.org/drawingml/2006/main">
            <a:off x="6515100" y="46291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Training &amp; Workshops holds the course.</a:t>
            </a:r>
          </a:p>
        </p:txBody>
      </p:sp>
      <p:sp>
        <p:nvSpPr>
          <p:cNvPr id="10" name="">
            <a:extLst xmlns:a="http://schemas.openxmlformats.org/drawingml/2006/main">
              <a:ext uri="{FF2B5EF4-FFF2-40B4-BE49-F238E27FC236}">
                <a16:creationId xmlns:a16="http://schemas.microsoft.com/office/drawing/2014/main" id="{86D84108-ADC5-4785-9170-F3830BFCE5B4}"/>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03</a:t>
            </a:r>
          </a:p>
        </p:txBody>
      </p:sp>
    </p:spTree>
    <p:extLst>
      <p:ext uri="{BB962C8B-B14F-4D97-AF65-F5344CB8AC3E}">
        <p14:creationId xmlns:p14="http://schemas.microsoft.com/office/powerpoint/2010/main" val="624632695"/>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2B14F7-0CC3-4569-918F-644DDF7AF5B6}"/>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Finding the right page</a:t>
            </a:r>
          </a:p>
        </p:txBody>
      </p:sp>
      <p:sp>
        <p:nvSpPr>
          <p:cNvPr id="2" name="">
            <a:extLst xmlns:a="http://schemas.openxmlformats.org/drawingml/2006/main">
              <a:ext uri="{FF2B5EF4-FFF2-40B4-BE49-F238E27FC236}">
                <a16:creationId xmlns:a16="http://schemas.microsoft.com/office/drawing/2014/main" id="{957871F2-9E37-478E-A637-7310257D4A76}"/>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Search accessible content by keyword.</a:t>
            </a:r>
          </a:p>
        </p:txBody>
      </p:sp>
      <p:sp>
        <p:nvSpPr>
          <p:cNvPr id="3" name="">
            <a:extLst xmlns:a="http://schemas.openxmlformats.org/drawingml/2006/main">
              <a:ext uri="{FF2B5EF4-FFF2-40B4-BE49-F238E27FC236}">
                <a16:creationId xmlns:a16="http://schemas.microsoft.com/office/drawing/2014/main" id="{55838A6D-1088-4C90-A271-C15DC0898020}"/>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Browse a page index when you know the title.</a:t>
            </a:r>
          </a:p>
        </p:txBody>
      </p:sp>
      <p:sp>
        <p:nvSpPr>
          <p:cNvPr id="4" name="">
            <a:extLst xmlns:a="http://schemas.openxmlformats.org/drawingml/2006/main">
              <a:ext uri="{FF2B5EF4-FFF2-40B4-BE49-F238E27FC236}">
                <a16:creationId xmlns:a16="http://schemas.microsoft.com/office/drawing/2014/main" id="{11ABD37B-E5CB-4A7B-82AA-C418DD23B17D}"/>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Use tags and properties to find related pages.</a:t>
            </a:r>
          </a:p>
        </p:txBody>
      </p:sp>
      <p:sp>
        <p:nvSpPr>
          <p:cNvPr id="5" name="">
            <a:extLst xmlns:a="http://schemas.openxmlformats.org/drawingml/2006/main">
              <a:ext uri="{FF2B5EF4-FFF2-40B4-BE49-F238E27FC236}">
                <a16:creationId xmlns:a16="http://schemas.microsoft.com/office/drawing/2014/main" id="{37290C97-B983-48DF-94E8-B459F7792332}"/>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Features · Knowledge directory</a:t>
            </a:r>
          </a:p>
        </p:txBody>
      </p:sp>
      <p:sp>
        <p:nvSpPr>
          <p:cNvPr id="6" name="">
            <a:extLst xmlns:a="http://schemas.openxmlformats.org/drawingml/2006/main">
              <a:ext uri="{FF2B5EF4-FFF2-40B4-BE49-F238E27FC236}">
                <a16:creationId xmlns:a16="http://schemas.microsoft.com/office/drawing/2014/main" id="{233E1C9E-4D1D-42E8-BB2F-7D0E4A33A886}"/>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04</a:t>
            </a:r>
          </a:p>
        </p:txBody>
      </p:sp>
    </p:spTree>
    <p:extLst>
      <p:ext uri="{BB962C8B-B14F-4D97-AF65-F5344CB8AC3E}">
        <p14:creationId xmlns:p14="http://schemas.microsoft.com/office/powerpoint/2010/main" val="130054322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DC26F6-B940-4E91-9465-DE01D32B8121}"/>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Reading and editing</a:t>
            </a:r>
          </a:p>
        </p:txBody>
      </p:sp>
      <p:sp>
        <p:nvSpPr>
          <p:cNvPr id="2" name="">
            <a:extLst xmlns:a="http://schemas.openxmlformats.org/drawingml/2006/main">
              <a:ext uri="{FF2B5EF4-FFF2-40B4-BE49-F238E27FC236}">
                <a16:creationId xmlns:a16="http://schemas.microsoft.com/office/drawing/2014/main" id="{BAD3E5F4-5F67-43E1-B00B-C927F129852F}"/>
              </a:ext>
            </a:extLst>
          </p:cNvPr>
          <p:cNvSpPr>
            <a:spLocks xmlns:a="http://schemas.openxmlformats.org/drawingml/2006/main" noGrp="1"/>
          </p:cNvSpPr>
          <p:nvPr/>
        </p:nvSpPr>
        <p:spPr>
          <a:xfrm xmlns:a="http://schemas.openxmlformats.org/drawingml/2006/main">
            <a:off x="742950" y="2095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Read mode</a:t>
            </a:r>
          </a:p>
        </p:txBody>
      </p:sp>
      <p:sp>
        <p:nvSpPr>
          <p:cNvPr id="3" name="">
            <a:extLst xmlns:a="http://schemas.openxmlformats.org/drawingml/2006/main">
              <a:ext uri="{FF2B5EF4-FFF2-40B4-BE49-F238E27FC236}">
                <a16:creationId xmlns:a16="http://schemas.microsoft.com/office/drawing/2014/main" id="{44372441-E01A-4EFF-B30F-7BB655407729}"/>
              </a:ext>
            </a:extLst>
          </p:cNvPr>
          <p:cNvSpPr>
            <a:spLocks xmlns:a="http://schemas.openxmlformats.org/drawingml/2006/main" noGrp="1"/>
          </p:cNvSpPr>
          <p:nvPr/>
        </p:nvSpPr>
        <p:spPr>
          <a:xfrm xmlns:a="http://schemas.openxmlformats.org/drawingml/2006/main">
            <a:off x="6515100" y="2095500"/>
            <a:ext cx="491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Edit mode</a:t>
            </a:r>
          </a:p>
        </p:txBody>
      </p:sp>
      <p:sp>
        <p:nvSpPr>
          <p:cNvPr id="4" name="">
            <a:extLst xmlns:a="http://schemas.openxmlformats.org/drawingml/2006/main">
              <a:ext uri="{FF2B5EF4-FFF2-40B4-BE49-F238E27FC236}">
                <a16:creationId xmlns:a16="http://schemas.microsoft.com/office/drawing/2014/main" id="{1CDEBA6B-0B92-465C-87D2-D567CAB4CDE7}"/>
              </a:ext>
            </a:extLst>
          </p:cNvPr>
          <p:cNvSpPr>
            <a:spLocks xmlns:a="http://schemas.openxmlformats.org/drawingml/2006/main" noGrp="1"/>
          </p:cNvSpPr>
          <p:nvPr/>
        </p:nvSpPr>
        <p:spPr>
          <a:xfrm xmlns:a="http://schemas.openxmlformats.org/drawingml/2006/main">
            <a:off x="742950" y="28003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Follow links and open files.</a:t>
            </a:r>
          </a:p>
        </p:txBody>
      </p:sp>
      <p:sp>
        <p:nvSpPr>
          <p:cNvPr id="5" name="">
            <a:extLst xmlns:a="http://schemas.openxmlformats.org/drawingml/2006/main">
              <a:ext uri="{FF2B5EF4-FFF2-40B4-BE49-F238E27FC236}">
                <a16:creationId xmlns:a16="http://schemas.microsoft.com/office/drawing/2014/main" id="{AB6A91A3-A767-4980-AD90-1D1C018EE5D3}"/>
              </a:ext>
            </a:extLst>
          </p:cNvPr>
          <p:cNvSpPr>
            <a:spLocks xmlns:a="http://schemas.openxmlformats.org/drawingml/2006/main" noGrp="1"/>
          </p:cNvSpPr>
          <p:nvPr/>
        </p:nvSpPr>
        <p:spPr>
          <a:xfrm xmlns:a="http://schemas.openxmlformats.org/drawingml/2006/main">
            <a:off x="742950" y="37147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Expand details and switch tabs.</a:t>
            </a:r>
          </a:p>
        </p:txBody>
      </p:sp>
      <p:sp>
        <p:nvSpPr>
          <p:cNvPr id="6" name="">
            <a:extLst xmlns:a="http://schemas.openxmlformats.org/drawingml/2006/main">
              <a:ext uri="{FF2B5EF4-FFF2-40B4-BE49-F238E27FC236}">
                <a16:creationId xmlns:a16="http://schemas.microsoft.com/office/drawing/2014/main" id="{7B2C3271-3FE0-4DE6-B06D-3134F05A47A6}"/>
              </a:ext>
            </a:extLst>
          </p:cNvPr>
          <p:cNvSpPr>
            <a:spLocks xmlns:a="http://schemas.openxmlformats.org/drawingml/2006/main" noGrp="1"/>
          </p:cNvSpPr>
          <p:nvPr/>
        </p:nvSpPr>
        <p:spPr>
          <a:xfrm xmlns:a="http://schemas.openxmlformats.org/drawingml/2006/main">
            <a:off x="742950" y="46291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Read comments and page history.</a:t>
            </a:r>
          </a:p>
        </p:txBody>
      </p:sp>
      <p:sp>
        <p:nvSpPr>
          <p:cNvPr id="7" name="">
            <a:extLst xmlns:a="http://schemas.openxmlformats.org/drawingml/2006/main">
              <a:ext uri="{FF2B5EF4-FFF2-40B4-BE49-F238E27FC236}">
                <a16:creationId xmlns:a16="http://schemas.microsoft.com/office/drawing/2014/main" id="{5E2D22DE-233F-4DBC-AF30-D12E6710E308}"/>
              </a:ext>
            </a:extLst>
          </p:cNvPr>
          <p:cNvSpPr>
            <a:spLocks xmlns:a="http://schemas.openxmlformats.org/drawingml/2006/main" noGrp="1"/>
          </p:cNvSpPr>
          <p:nvPr/>
        </p:nvSpPr>
        <p:spPr>
          <a:xfrm xmlns:a="http://schemas.openxmlformats.org/drawingml/2006/main">
            <a:off x="6515100" y="28003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Change structured page content.</a:t>
            </a:r>
          </a:p>
        </p:txBody>
      </p:sp>
      <p:sp>
        <p:nvSpPr>
          <p:cNvPr id="8" name="">
            <a:extLst xmlns:a="http://schemas.openxmlformats.org/drawingml/2006/main">
              <a:ext uri="{FF2B5EF4-FFF2-40B4-BE49-F238E27FC236}">
                <a16:creationId xmlns:a16="http://schemas.microsoft.com/office/drawing/2014/main" id="{E0F52526-ADCB-495B-89D2-8D36EBDACA1E}"/>
              </a:ext>
            </a:extLst>
          </p:cNvPr>
          <p:cNvSpPr>
            <a:spLocks xmlns:a="http://schemas.openxmlformats.org/drawingml/2006/main" noGrp="1"/>
          </p:cNvSpPr>
          <p:nvPr/>
        </p:nvSpPr>
        <p:spPr>
          <a:xfrm xmlns:a="http://schemas.openxmlformats.org/drawingml/2006/main">
            <a:off x="6515100" y="37147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Insert blocks with the toolbar or slash menu.</a:t>
            </a:r>
          </a:p>
        </p:txBody>
      </p:sp>
      <p:sp>
        <p:nvSpPr>
          <p:cNvPr id="9" name="">
            <a:extLst xmlns:a="http://schemas.openxmlformats.org/drawingml/2006/main">
              <a:ext uri="{FF2B5EF4-FFF2-40B4-BE49-F238E27FC236}">
                <a16:creationId xmlns:a16="http://schemas.microsoft.com/office/drawing/2014/main" id="{52CE87BE-721A-4429-B172-EFA1608DD19E}"/>
              </a:ext>
            </a:extLst>
          </p:cNvPr>
          <p:cNvSpPr>
            <a:spLocks xmlns:a="http://schemas.openxmlformats.org/drawingml/2006/main" noGrp="1"/>
          </p:cNvSpPr>
          <p:nvPr/>
        </p:nvSpPr>
        <p:spPr>
          <a:xfrm xmlns:a="http://schemas.openxmlformats.org/drawingml/2006/main">
            <a:off x="6515100" y="46291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Configure macros at the point of use.</a:t>
            </a:r>
          </a:p>
        </p:txBody>
      </p:sp>
      <p:sp>
        <p:nvSpPr>
          <p:cNvPr id="10" name="">
            <a:extLst xmlns:a="http://schemas.openxmlformats.org/drawingml/2006/main">
              <a:ext uri="{FF2B5EF4-FFF2-40B4-BE49-F238E27FC236}">
                <a16:creationId xmlns:a16="http://schemas.microsoft.com/office/drawing/2014/main" id="{7415B6CB-E9DE-4049-8268-FC82273F45EE}"/>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05</a:t>
            </a:r>
          </a:p>
        </p:txBody>
      </p:sp>
    </p:spTree>
    <p:extLst>
      <p:ext uri="{BB962C8B-B14F-4D97-AF65-F5344CB8AC3E}">
        <p14:creationId xmlns:p14="http://schemas.microsoft.com/office/powerpoint/2010/main" val="1381911157"/>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9316710-BD7E-45F2-AB15-E13A7F8238DF}"/>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Rich content with a purpose</a:t>
            </a:r>
          </a:p>
        </p:txBody>
      </p:sp>
      <p:graphicFrame>
        <p:nvGraphicFramePr>
          <p:cNvPr id="5" name=""/>
          <p:cNvGraphicFramePr/>
          <p:nvPr/>
        </p:nvGraphicFramePr>
        <p:xfrm>
          <a:off xmlns:a="http://schemas.openxmlformats.org/drawingml/2006/main" x="723900" y="2019300"/>
          <a:ext xmlns:a="http://schemas.openxmlformats.org/drawingml/2006/main" cx="10744200" cy="3524250"/>
        </p:xfrm>
        <a:graphic xmlns:a="http://schemas.openxmlformats.org/drawingml/2006/main">
          <a:graphicData uri="http://schemas.openxmlformats.org/drawingml/2006/table">
            <a:tbl>
              <a:tblPr/>
              <a:tblGrid>
                <a:gridCol w="3581400"/>
                <a:gridCol w="3581400"/>
                <a:gridCol w="3581400"/>
              </a:tblGrid>
              <a:tr h="704850">
                <a:tc>
                  <a:txBody>
                    <a:bodyPr>
                      <a:noAutofit/>
                    </a:bodyPr>
                    <a:lstStyle/>
                    <a:p>
                      <a:r>
                        <a:rPr sz="1875" b="1">
                          <a:solidFill>
                            <a:srgbClr val="F8F7F3"/>
                          </a:solidFill>
                          <a:latin typeface="Helvetica Neue"/>
                          <a:ea typeface="Helvetica Neue"/>
                          <a:cs typeface="Helvetica Neue"/>
                        </a:rPr>
                        <a:t>Need</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Block</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Example</a:t>
                      </a:r>
                    </a:p>
                  </a:txBody>
                  <a:tcPr marL="91440" marR="91440" marT="45720" marB="45720">
                    <a:solidFill>
                      <a:srgbClr val="252035"/>
                    </a:solidFill>
                  </a:tcPr>
                </a:tc>
              </a:tr>
              <a:tr h="704850">
                <a:tc>
                  <a:txBody>
                    <a:bodyPr>
                      <a:noAutofit/>
                    </a:bodyPr>
                    <a:lstStyle/>
                    <a:p>
                      <a:r>
                        <a:rPr sz="1875" b="0">
                          <a:solidFill>
                            <a:srgbClr val="232330"/>
                          </a:solidFill>
                          <a:latin typeface="Helvetica Neue"/>
                          <a:ea typeface="Helvetica Neue"/>
                          <a:cs typeface="Helvetica Neue"/>
                        </a:rPr>
                        <a:t>A condition readers must notice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Callout</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Restore replaces server data</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A compact progress annotation</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Status and date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IN REVIEW, example review date</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Work someone can finish</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Task list</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Verify the training attachment</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Exact technical syntax</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Code or no-format</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API request or JSON payload</a:t>
                      </a:r>
                    </a:p>
                  </a:txBody>
                  <a:tcPr marL="91440" marR="91440" marT="45720" marB="45720">
                    <a:solidFill>
                      <a:srgbClr val="F8F7F3"/>
                    </a:solidFill>
                  </a:tcPr>
                </a:tc>
              </a:tr>
            </a:tbl>
          </a:graphicData>
        </a:graphic>
      </p:graphicFrame>
      <p:sp>
        <p:nvSpPr>
          <p:cNvPr id="3" name="">
            <a:extLst xmlns:a="http://schemas.openxmlformats.org/drawingml/2006/main">
              <a:ext uri="{FF2B5EF4-FFF2-40B4-BE49-F238E27FC236}">
                <a16:creationId xmlns:a16="http://schemas.microsoft.com/office/drawing/2014/main" id="{0B355CA5-3821-4113-AD8C-93D98AD581D1}"/>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06</a:t>
            </a:r>
          </a:p>
        </p:txBody>
      </p:sp>
    </p:spTree>
    <p:extLst>
      <p:ext uri="{BB962C8B-B14F-4D97-AF65-F5344CB8AC3E}">
        <p14:creationId xmlns:p14="http://schemas.microsoft.com/office/powerpoint/2010/main" val="1212153775"/>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1F781D-924E-443A-8897-ECE2FC6FB02B}"/>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Layouts for different reading paths</a:t>
            </a:r>
          </a:p>
        </p:txBody>
      </p:sp>
      <p:sp>
        <p:nvSpPr>
          <p:cNvPr id="2" name="">
            <a:extLst xmlns:a="http://schemas.openxmlformats.org/drawingml/2006/main">
              <a:ext uri="{FF2B5EF4-FFF2-40B4-BE49-F238E27FC236}">
                <a16:creationId xmlns:a16="http://schemas.microsoft.com/office/drawing/2014/main" id="{A9F733EA-CA32-44BF-8C3E-24636CC2F2B0}"/>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Headings and a table of contents support scanning.</a:t>
            </a:r>
          </a:p>
        </p:txBody>
      </p:sp>
      <p:sp>
        <p:nvSpPr>
          <p:cNvPr id="3" name="">
            <a:extLst xmlns:a="http://schemas.openxmlformats.org/drawingml/2006/main">
              <a:ext uri="{FF2B5EF4-FFF2-40B4-BE49-F238E27FC236}">
                <a16:creationId xmlns:a16="http://schemas.microsoft.com/office/drawing/2014/main" id="{13A3FE4C-6F4E-4CB9-B987-606409B71D0D}"/>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Details hide optional explanation until needed.</a:t>
            </a:r>
          </a:p>
        </p:txBody>
      </p:sp>
      <p:sp>
        <p:nvSpPr>
          <p:cNvPr id="4" name="">
            <a:extLst xmlns:a="http://schemas.openxmlformats.org/drawingml/2006/main">
              <a:ext uri="{FF2B5EF4-FFF2-40B4-BE49-F238E27FC236}">
                <a16:creationId xmlns:a16="http://schemas.microsoft.com/office/drawing/2014/main" id="{C0DF9928-7759-4E69-A6D7-F6B97AA82B0D}"/>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Tabs separate perspectives; columns compare related ideas.</a:t>
            </a:r>
          </a:p>
        </p:txBody>
      </p:sp>
      <p:sp>
        <p:nvSpPr>
          <p:cNvPr id="5" name="">
            <a:extLst xmlns:a="http://schemas.openxmlformats.org/drawingml/2006/main">
              <a:ext uri="{FF2B5EF4-FFF2-40B4-BE49-F238E27FC236}">
                <a16:creationId xmlns:a16="http://schemas.microsoft.com/office/drawing/2014/main" id="{38A0020E-5749-4B50-98D8-8712A51E4D73}"/>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Features · Rich authoring demonstration</a:t>
            </a:r>
          </a:p>
        </p:txBody>
      </p:sp>
      <p:sp>
        <p:nvSpPr>
          <p:cNvPr id="6" name="">
            <a:extLst xmlns:a="http://schemas.openxmlformats.org/drawingml/2006/main">
              <a:ext uri="{FF2B5EF4-FFF2-40B4-BE49-F238E27FC236}">
                <a16:creationId xmlns:a16="http://schemas.microsoft.com/office/drawing/2014/main" id="{F7FE5D1E-3BA9-4FA9-AEC4-16C9DDF8948C}"/>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07</a:t>
            </a:r>
          </a:p>
        </p:txBody>
      </p:sp>
    </p:spTree>
    <p:extLst>
      <p:ext uri="{BB962C8B-B14F-4D97-AF65-F5344CB8AC3E}">
        <p14:creationId xmlns:p14="http://schemas.microsoft.com/office/powerpoint/2010/main" val="922271320"/>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21D33D-7166-4FF4-AA52-E686A21C22C8}"/>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Diagrams beside the explanation</a:t>
            </a:r>
          </a:p>
        </p:txBody>
      </p:sp>
      <p:sp>
        <p:nvSpPr>
          <p:cNvPr id="2" name="">
            <a:extLst xmlns:a="http://schemas.openxmlformats.org/drawingml/2006/main">
              <a:ext uri="{FF2B5EF4-FFF2-40B4-BE49-F238E27FC236}">
                <a16:creationId xmlns:a16="http://schemas.microsoft.com/office/drawing/2014/main" id="{B8C77B44-E15D-4F25-A994-97FB385CC6DF}"/>
              </a:ext>
            </a:extLst>
          </p:cNvPr>
          <p:cNvSpPr>
            <a:spLocks xmlns:a="http://schemas.openxmlformats.org/drawingml/2006/main" noGrp="1"/>
          </p:cNvSpPr>
          <p:nvPr/>
        </p:nvSpPr>
        <p:spPr>
          <a:xfrm xmlns:a="http://schemas.openxmlformats.org/drawingml/2006/main">
            <a:off x="762000" y="2057400"/>
            <a:ext cx="5429250" cy="3457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flowchart LR</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Client --&gt; API</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API --&gt; Database</a:t>
            </a:r>
          </a:p>
        </p:txBody>
      </p:sp>
      <p:sp>
        <p:nvSpPr>
          <p:cNvPr id="3" name="">
            <a:extLst xmlns:a="http://schemas.openxmlformats.org/drawingml/2006/main">
              <a:ext uri="{FF2B5EF4-FFF2-40B4-BE49-F238E27FC236}">
                <a16:creationId xmlns:a16="http://schemas.microsoft.com/office/drawing/2014/main" id="{5248406B-0843-4120-BED7-276D4118E2D0}"/>
              </a:ext>
            </a:extLst>
          </p:cNvPr>
          <p:cNvSpPr>
            <a:spLocks xmlns:a="http://schemas.openxmlformats.org/drawingml/2006/main" noGrp="1"/>
          </p:cNvSpPr>
          <p:nvPr/>
        </p:nvSpPr>
        <p:spPr>
          <a:xfrm xmlns:a="http://schemas.openxmlformats.org/drawingml/2006/main">
            <a:off x="6800850" y="21907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Mermaid stores diagram source in the page.</a:t>
            </a:r>
          </a:p>
        </p:txBody>
      </p:sp>
      <p:sp>
        <p:nvSpPr>
          <p:cNvPr id="4" name="">
            <a:extLst xmlns:a="http://schemas.openxmlformats.org/drawingml/2006/main">
              <a:ext uri="{FF2B5EF4-FFF2-40B4-BE49-F238E27FC236}">
                <a16:creationId xmlns:a16="http://schemas.microsoft.com/office/drawing/2014/main" id="{6AA2BDD5-4564-4C50-ACCE-57FD460BBFAA}"/>
              </a:ext>
            </a:extLst>
          </p:cNvPr>
          <p:cNvSpPr>
            <a:spLocks xmlns:a="http://schemas.openxmlformats.org/drawingml/2006/main" noGrp="1"/>
          </p:cNvSpPr>
          <p:nvPr/>
        </p:nvSpPr>
        <p:spPr>
          <a:xfrm xmlns:a="http://schemas.openxmlformats.org/drawingml/2006/main">
            <a:off x="6800850" y="327660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The live example shows Kollab's deployment.</a:t>
            </a:r>
          </a:p>
        </p:txBody>
      </p:sp>
      <p:sp>
        <p:nvSpPr>
          <p:cNvPr id="5" name="">
            <a:extLst xmlns:a="http://schemas.openxmlformats.org/drawingml/2006/main">
              <a:ext uri="{FF2B5EF4-FFF2-40B4-BE49-F238E27FC236}">
                <a16:creationId xmlns:a16="http://schemas.microsoft.com/office/drawing/2014/main" id="{23BFA04D-B3F3-45C7-B103-1D5FFFD7B733}"/>
              </a:ext>
            </a:extLst>
          </p:cNvPr>
          <p:cNvSpPr>
            <a:spLocks xmlns:a="http://schemas.openxmlformats.org/drawingml/2006/main" noGrp="1"/>
          </p:cNvSpPr>
          <p:nvPr/>
        </p:nvSpPr>
        <p:spPr>
          <a:xfrm xmlns:a="http://schemas.openxmlformats.org/drawingml/2006/main">
            <a:off x="6800850" y="43624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Visual editors provide optional drawing workflows.</a:t>
            </a:r>
          </a:p>
        </p:txBody>
      </p:sp>
      <p:sp>
        <p:nvSpPr>
          <p:cNvPr id="6" name="">
            <a:extLst xmlns:a="http://schemas.openxmlformats.org/drawingml/2006/main">
              <a:ext uri="{FF2B5EF4-FFF2-40B4-BE49-F238E27FC236}">
                <a16:creationId xmlns:a16="http://schemas.microsoft.com/office/drawing/2014/main" id="{5BD6A2A1-0F8F-4610-891D-F4B95ED2944A}"/>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08</a:t>
            </a:r>
          </a:p>
        </p:txBody>
      </p:sp>
    </p:spTree>
    <p:extLst>
      <p:ext uri="{BB962C8B-B14F-4D97-AF65-F5344CB8AC3E}">
        <p14:creationId xmlns:p14="http://schemas.microsoft.com/office/powerpoint/2010/main" val="1952875796"/>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0664F-2F7F-41CF-AAB7-B2F98850B49B}"/>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Reusable knowledge</a:t>
            </a:r>
          </a:p>
        </p:txBody>
      </p:sp>
      <p:sp>
        <p:nvSpPr>
          <p:cNvPr id="2" name="">
            <a:extLst xmlns:a="http://schemas.openxmlformats.org/drawingml/2006/main">
              <a:ext uri="{FF2B5EF4-FFF2-40B4-BE49-F238E27FC236}">
                <a16:creationId xmlns:a16="http://schemas.microsoft.com/office/drawing/2014/main" id="{B9DCE844-3064-4390-8254-A2269729EBDC}"/>
              </a:ext>
            </a:extLst>
          </p:cNvPr>
          <p:cNvSpPr>
            <a:spLocks xmlns:a="http://schemas.openxmlformats.org/drawingml/2006/main" noGrp="1"/>
          </p:cNvSpPr>
          <p:nvPr/>
        </p:nvSpPr>
        <p:spPr>
          <a:xfrm xmlns:a="http://schemas.openxmlformats.org/drawingml/2006/main">
            <a:off x="742950" y="2095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A live reference</a:t>
            </a:r>
          </a:p>
        </p:txBody>
      </p:sp>
      <p:sp>
        <p:nvSpPr>
          <p:cNvPr id="3" name="">
            <a:extLst xmlns:a="http://schemas.openxmlformats.org/drawingml/2006/main">
              <a:ext uri="{FF2B5EF4-FFF2-40B4-BE49-F238E27FC236}">
                <a16:creationId xmlns:a16="http://schemas.microsoft.com/office/drawing/2014/main" id="{E81BDDDB-57A2-4757-8E4E-2E65CC083A95}"/>
              </a:ext>
            </a:extLst>
          </p:cNvPr>
          <p:cNvSpPr>
            <a:spLocks xmlns:a="http://schemas.openxmlformats.org/drawingml/2006/main" noGrp="1"/>
          </p:cNvSpPr>
          <p:nvPr/>
        </p:nvSpPr>
        <p:spPr>
          <a:xfrm xmlns:a="http://schemas.openxmlformats.org/drawingml/2006/main">
            <a:off x="6515100" y="2095500"/>
            <a:ext cx="491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A starting copy</a:t>
            </a:r>
          </a:p>
        </p:txBody>
      </p:sp>
      <p:sp>
        <p:nvSpPr>
          <p:cNvPr id="4" name="">
            <a:extLst xmlns:a="http://schemas.openxmlformats.org/drawingml/2006/main">
              <a:ext uri="{FF2B5EF4-FFF2-40B4-BE49-F238E27FC236}">
                <a16:creationId xmlns:a16="http://schemas.microsoft.com/office/drawing/2014/main" id="{39942344-CBDC-409C-858F-BFC57A5E59C0}"/>
              </a:ext>
            </a:extLst>
          </p:cNvPr>
          <p:cNvSpPr>
            <a:spLocks xmlns:a="http://schemas.openxmlformats.org/drawingml/2006/main" noGrp="1"/>
          </p:cNvSpPr>
          <p:nvPr/>
        </p:nvSpPr>
        <p:spPr>
          <a:xfrm xmlns:a="http://schemas.openxmlformats.org/drawingml/2006/main">
            <a:off x="742950" y="28003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Define an excerpt on a source page.</a:t>
            </a:r>
          </a:p>
        </p:txBody>
      </p:sp>
      <p:sp>
        <p:nvSpPr>
          <p:cNvPr id="5" name="">
            <a:extLst xmlns:a="http://schemas.openxmlformats.org/drawingml/2006/main">
              <a:ext uri="{FF2B5EF4-FFF2-40B4-BE49-F238E27FC236}">
                <a16:creationId xmlns:a16="http://schemas.microsoft.com/office/drawing/2014/main" id="{C45B1F2C-C6E9-4A0C-A967-23B79E30A751}"/>
              </a:ext>
            </a:extLst>
          </p:cNvPr>
          <p:cNvSpPr>
            <a:spLocks xmlns:a="http://schemas.openxmlformats.org/drawingml/2006/main" noGrp="1"/>
          </p:cNvSpPr>
          <p:nvPr/>
        </p:nvSpPr>
        <p:spPr>
          <a:xfrm xmlns:a="http://schemas.openxmlformats.org/drawingml/2006/main">
            <a:off x="742950" y="37147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Include that excerpt elsewhere.</a:t>
            </a:r>
          </a:p>
        </p:txBody>
      </p:sp>
      <p:sp>
        <p:nvSpPr>
          <p:cNvPr id="6" name="">
            <a:extLst xmlns:a="http://schemas.openxmlformats.org/drawingml/2006/main">
              <a:ext uri="{FF2B5EF4-FFF2-40B4-BE49-F238E27FC236}">
                <a16:creationId xmlns:a16="http://schemas.microsoft.com/office/drawing/2014/main" id="{15F16DF8-DC44-4DDE-80C1-A73AF1CF1E57}"/>
              </a:ext>
            </a:extLst>
          </p:cNvPr>
          <p:cNvSpPr>
            <a:spLocks xmlns:a="http://schemas.openxmlformats.org/drawingml/2006/main" noGrp="1"/>
          </p:cNvSpPr>
          <p:nvPr/>
        </p:nvSpPr>
        <p:spPr>
          <a:xfrm xmlns:a="http://schemas.openxmlformats.org/drawingml/2006/main">
            <a:off x="742950" y="46291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Keep its identity stable when editing.</a:t>
            </a:r>
          </a:p>
        </p:txBody>
      </p:sp>
      <p:sp>
        <p:nvSpPr>
          <p:cNvPr id="7" name="">
            <a:extLst xmlns:a="http://schemas.openxmlformats.org/drawingml/2006/main">
              <a:ext uri="{FF2B5EF4-FFF2-40B4-BE49-F238E27FC236}">
                <a16:creationId xmlns:a16="http://schemas.microsoft.com/office/drawing/2014/main" id="{FF598F16-DD12-47CE-9A34-971E1C5120B5}"/>
              </a:ext>
            </a:extLst>
          </p:cNvPr>
          <p:cNvSpPr>
            <a:spLocks xmlns:a="http://schemas.openxmlformats.org/drawingml/2006/main" noGrp="1"/>
          </p:cNvSpPr>
          <p:nvPr/>
        </p:nvSpPr>
        <p:spPr>
          <a:xfrm xmlns:a="http://schemas.openxmlformats.org/drawingml/2006/main">
            <a:off x="6515100" y="28003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Create a page from a template.</a:t>
            </a:r>
          </a:p>
        </p:txBody>
      </p:sp>
      <p:sp>
        <p:nvSpPr>
          <p:cNvPr id="8" name="">
            <a:extLst xmlns:a="http://schemas.openxmlformats.org/drawingml/2006/main">
              <a:ext uri="{FF2B5EF4-FFF2-40B4-BE49-F238E27FC236}">
                <a16:creationId xmlns:a16="http://schemas.microsoft.com/office/drawing/2014/main" id="{9BE7984D-F1DC-4D0E-8C8B-27752D2AB77F}"/>
              </a:ext>
            </a:extLst>
          </p:cNvPr>
          <p:cNvSpPr>
            <a:spLocks xmlns:a="http://schemas.openxmlformats.org/drawingml/2006/main" noGrp="1"/>
          </p:cNvSpPr>
          <p:nvPr/>
        </p:nvSpPr>
        <p:spPr>
          <a:xfrm xmlns:a="http://schemas.openxmlformats.org/drawingml/2006/main">
            <a:off x="6515100" y="37147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Insert a reusable snippet.</a:t>
            </a:r>
          </a:p>
        </p:txBody>
      </p:sp>
      <p:sp>
        <p:nvSpPr>
          <p:cNvPr id="9" name="">
            <a:extLst xmlns:a="http://schemas.openxmlformats.org/drawingml/2006/main">
              <a:ext uri="{FF2B5EF4-FFF2-40B4-BE49-F238E27FC236}">
                <a16:creationId xmlns:a16="http://schemas.microsoft.com/office/drawing/2014/main" id="{C9E3373C-81CD-491C-A6CE-AE2487EC4415}"/>
              </a:ext>
            </a:extLst>
          </p:cNvPr>
          <p:cNvSpPr>
            <a:spLocks xmlns:a="http://schemas.openxmlformats.org/drawingml/2006/main" noGrp="1"/>
          </p:cNvSpPr>
          <p:nvPr/>
        </p:nvSpPr>
        <p:spPr>
          <a:xfrm xmlns:a="http://schemas.openxmlformats.org/drawingml/2006/main">
            <a:off x="6515100" y="46291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Maintain each resulting copy independently.</a:t>
            </a:r>
          </a:p>
        </p:txBody>
      </p:sp>
      <p:sp>
        <p:nvSpPr>
          <p:cNvPr id="10" name="">
            <a:extLst xmlns:a="http://schemas.openxmlformats.org/drawingml/2006/main">
              <a:ext uri="{FF2B5EF4-FFF2-40B4-BE49-F238E27FC236}">
                <a16:creationId xmlns:a16="http://schemas.microsoft.com/office/drawing/2014/main" id="{D22CD8D6-934E-4251-949D-380BFEAD88F8}"/>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09</a:t>
            </a:r>
          </a:p>
        </p:txBody>
      </p:sp>
    </p:spTree>
    <p:extLst>
      <p:ext uri="{BB962C8B-B14F-4D97-AF65-F5344CB8AC3E}">
        <p14:creationId xmlns:p14="http://schemas.microsoft.com/office/powerpoint/2010/main" val="1182494729"/>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6AD8B2-126F-41EB-8411-F43DBD3B7985}"/>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Properties turn pages into a collection</a:t>
            </a:r>
          </a:p>
        </p:txBody>
      </p:sp>
      <p:sp>
        <p:nvSpPr>
          <p:cNvPr id="2" name="">
            <a:extLst xmlns:a="http://schemas.openxmlformats.org/drawingml/2006/main">
              <a:ext uri="{FF2B5EF4-FFF2-40B4-BE49-F238E27FC236}">
                <a16:creationId xmlns:a16="http://schemas.microsoft.com/office/drawing/2014/main" id="{DAEB518E-FC49-4806-9032-AD7523F3AE95}"/>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A page-properties block stores key/value metadata.</a:t>
            </a:r>
          </a:p>
        </p:txBody>
      </p:sp>
      <p:sp>
        <p:nvSpPr>
          <p:cNvPr id="3" name="">
            <a:extLst xmlns:a="http://schemas.openxmlformats.org/drawingml/2006/main">
              <a:ext uri="{FF2B5EF4-FFF2-40B4-BE49-F238E27FC236}">
                <a16:creationId xmlns:a16="http://schemas.microsoft.com/office/drawing/2014/main" id="{BE160992-68D8-4EDB-8414-2F95CCE8BFB7}"/>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The save path maintains a queryable index.</a:t>
            </a:r>
          </a:p>
        </p:txBody>
      </p:sp>
      <p:sp>
        <p:nvSpPr>
          <p:cNvPr id="4" name="">
            <a:extLst xmlns:a="http://schemas.openxmlformats.org/drawingml/2006/main">
              <a:ext uri="{FF2B5EF4-FFF2-40B4-BE49-F238E27FC236}">
                <a16:creationId xmlns:a16="http://schemas.microsoft.com/office/drawing/2014/main" id="{400E0C16-AC64-4299-9A08-D737C759A109}"/>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A properties report groups accessible pages by that metadata.</a:t>
            </a:r>
          </a:p>
        </p:txBody>
      </p:sp>
      <p:sp>
        <p:nvSpPr>
          <p:cNvPr id="5" name="">
            <a:extLst xmlns:a="http://schemas.openxmlformats.org/drawingml/2006/main">
              <a:ext uri="{FF2B5EF4-FFF2-40B4-BE49-F238E27FC236}">
                <a16:creationId xmlns:a16="http://schemas.microsoft.com/office/drawing/2014/main" id="{6A0FAAC1-D68C-4B28-8062-39290BCB4850}"/>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Features · Knowledge directory · Area report</a:t>
            </a:r>
          </a:p>
        </p:txBody>
      </p:sp>
      <p:sp>
        <p:nvSpPr>
          <p:cNvPr id="6" name="">
            <a:extLst xmlns:a="http://schemas.openxmlformats.org/drawingml/2006/main">
              <a:ext uri="{FF2B5EF4-FFF2-40B4-BE49-F238E27FC236}">
                <a16:creationId xmlns:a16="http://schemas.microsoft.com/office/drawing/2014/main" id="{6D2F85A9-F569-4451-9B3F-DE47DDEA7425}"/>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10</a:t>
            </a:r>
          </a:p>
        </p:txBody>
      </p:sp>
    </p:spTree>
    <p:extLst>
      <p:ext uri="{BB962C8B-B14F-4D97-AF65-F5344CB8AC3E}">
        <p14:creationId xmlns:p14="http://schemas.microsoft.com/office/powerpoint/2010/main" val="38073184"/>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F5E754-80C1-45A6-9EA9-99515FF99583}"/>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Files and presentations</a:t>
            </a:r>
          </a:p>
        </p:txBody>
      </p:sp>
      <p:sp>
        <p:nvSpPr>
          <p:cNvPr id="2" name="">
            <a:extLst xmlns:a="http://schemas.openxmlformats.org/drawingml/2006/main">
              <a:ext uri="{FF2B5EF4-FFF2-40B4-BE49-F238E27FC236}">
                <a16:creationId xmlns:a16="http://schemas.microsoft.com/office/drawing/2014/main" id="{E68850D2-7F1C-4FBE-B066-6F890EE0CA91}"/>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Attach a file to the page that explains it.</a:t>
            </a:r>
          </a:p>
        </p:txBody>
      </p:sp>
      <p:sp>
        <p:nvSpPr>
          <p:cNvPr id="3" name="">
            <a:extLst xmlns:a="http://schemas.openxmlformats.org/drawingml/2006/main">
              <a:ext uri="{FF2B5EF4-FFF2-40B4-BE49-F238E27FC236}">
                <a16:creationId xmlns:a16="http://schemas.microsoft.com/office/drawing/2014/main" id="{FDF9C3C0-391C-4985-B907-4946BCCB2463}"/>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Use an attachment list or a single-file block.</a:t>
            </a:r>
          </a:p>
        </p:txBody>
      </p:sp>
      <p:sp>
        <p:nvSpPr>
          <p:cNvPr id="4" name="">
            <a:extLst xmlns:a="http://schemas.openxmlformats.org/drawingml/2006/main">
              <a:ext uri="{FF2B5EF4-FFF2-40B4-BE49-F238E27FC236}">
                <a16:creationId xmlns:a16="http://schemas.microsoft.com/office/drawing/2014/main" id="{0A897A23-4B90-4BE8-8485-CA96CA1E61CE}"/>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Download the original; preview it when the service supports it.</a:t>
            </a:r>
          </a:p>
        </p:txBody>
      </p:sp>
      <p:sp>
        <p:nvSpPr>
          <p:cNvPr id="5" name="">
            <a:extLst xmlns:a="http://schemas.openxmlformats.org/drawingml/2006/main">
              <a:ext uri="{FF2B5EF4-FFF2-40B4-BE49-F238E27FC236}">
                <a16:creationId xmlns:a16="http://schemas.microsoft.com/office/drawing/2014/main" id="{0BC30A6A-9D6B-4F3C-946D-8E96B5EA105A}"/>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Training &amp; Workshops · Capabilities PowerPoint</a:t>
            </a:r>
          </a:p>
        </p:txBody>
      </p:sp>
      <p:sp>
        <p:nvSpPr>
          <p:cNvPr id="6" name="">
            <a:extLst xmlns:a="http://schemas.openxmlformats.org/drawingml/2006/main">
              <a:ext uri="{FF2B5EF4-FFF2-40B4-BE49-F238E27FC236}">
                <a16:creationId xmlns:a16="http://schemas.microsoft.com/office/drawing/2014/main" id="{15718A38-3B37-45C4-9EF3-DB5EA455724E}"/>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11</a:t>
            </a:r>
          </a:p>
        </p:txBody>
      </p:sp>
    </p:spTree>
    <p:extLst>
      <p:ext uri="{BB962C8B-B14F-4D97-AF65-F5344CB8AC3E}">
        <p14:creationId xmlns:p14="http://schemas.microsoft.com/office/powerpoint/2010/main" val="880523232"/>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BCA175-861E-4739-B4A8-2EF2B5E34008}"/>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Collaborative work</a:t>
            </a:r>
          </a:p>
        </p:txBody>
      </p:sp>
      <p:sp>
        <p:nvSpPr>
          <p:cNvPr id="2" name="">
            <a:extLst xmlns:a="http://schemas.openxmlformats.org/drawingml/2006/main">
              <a:ext uri="{FF2B5EF4-FFF2-40B4-BE49-F238E27FC236}">
                <a16:creationId xmlns:a16="http://schemas.microsoft.com/office/drawing/2014/main" id="{61C4350B-760D-40B4-A033-0F6348C1E749}"/>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Live editing keeps accepted page changes synchronized.</a:t>
            </a:r>
          </a:p>
        </p:txBody>
      </p:sp>
      <p:sp>
        <p:nvSpPr>
          <p:cNvPr id="3" name="">
            <a:extLst xmlns:a="http://schemas.openxmlformats.org/drawingml/2006/main">
              <a:ext uri="{FF2B5EF4-FFF2-40B4-BE49-F238E27FC236}">
                <a16:creationId xmlns:a16="http://schemas.microsoft.com/office/drawing/2014/main" id="{E7FA39F0-6D35-46F5-8FAE-DE1AFD20FAF0}"/>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Comments preserve discussion beside the content.</a:t>
            </a:r>
          </a:p>
        </p:txBody>
      </p:sp>
      <p:sp>
        <p:nvSpPr>
          <p:cNvPr id="4" name="">
            <a:extLst xmlns:a="http://schemas.openxmlformats.org/drawingml/2006/main">
              <a:ext uri="{FF2B5EF4-FFF2-40B4-BE49-F238E27FC236}">
                <a16:creationId xmlns:a16="http://schemas.microsoft.com/office/drawing/2014/main" id="{E09B52A5-65D7-4AB8-BAA2-0612CE2842CE}"/>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Assigned tasks make follow-up work visible.</a:t>
            </a:r>
          </a:p>
        </p:txBody>
      </p:sp>
      <p:sp>
        <p:nvSpPr>
          <p:cNvPr id="5" name="">
            <a:extLst xmlns:a="http://schemas.openxmlformats.org/drawingml/2006/main">
              <a:ext uri="{FF2B5EF4-FFF2-40B4-BE49-F238E27FC236}">
                <a16:creationId xmlns:a16="http://schemas.microsoft.com/office/drawing/2014/main" id="{90C93F8C-A543-40F1-B7B6-FAAF76B7C84C}"/>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Features · Collaboration laboratory</a:t>
            </a:r>
          </a:p>
        </p:txBody>
      </p:sp>
      <p:sp>
        <p:nvSpPr>
          <p:cNvPr id="6" name="">
            <a:extLst xmlns:a="http://schemas.openxmlformats.org/drawingml/2006/main">
              <a:ext uri="{FF2B5EF4-FFF2-40B4-BE49-F238E27FC236}">
                <a16:creationId xmlns:a16="http://schemas.microsoft.com/office/drawing/2014/main" id="{E583DF5E-ED24-4F66-8DB7-6B7D047557FE}"/>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12</a:t>
            </a:r>
          </a:p>
        </p:txBody>
      </p:sp>
    </p:spTree>
    <p:extLst>
      <p:ext uri="{BB962C8B-B14F-4D97-AF65-F5344CB8AC3E}">
        <p14:creationId xmlns:p14="http://schemas.microsoft.com/office/powerpoint/2010/main" val="719709241"/>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B0B3BE8-E815-412A-9339-2286AAB30223}"/>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Review, publishing, and history</a:t>
            </a:r>
          </a:p>
        </p:txBody>
      </p:sp>
      <p:graphicFrame>
        <p:nvGraphicFramePr>
          <p:cNvPr id="5" name=""/>
          <p:cNvGraphicFramePr/>
          <p:nvPr/>
        </p:nvGraphicFramePr>
        <p:xfrm>
          <a:off xmlns:a="http://schemas.openxmlformats.org/drawingml/2006/main" x="723900" y="2019300"/>
          <a:ext xmlns:a="http://schemas.openxmlformats.org/drawingml/2006/main" cx="10744200" cy="3524250"/>
        </p:xfrm>
        <a:graphic xmlns:a="http://schemas.openxmlformats.org/drawingml/2006/main">
          <a:graphicData uri="http://schemas.openxmlformats.org/drawingml/2006/table">
            <a:tbl>
              <a:tblPr/>
              <a:tblGrid>
                <a:gridCol w="5372100"/>
                <a:gridCol w="5372100"/>
              </a:tblGrid>
              <a:tr h="704850">
                <a:tc>
                  <a:txBody>
                    <a:bodyPr>
                      <a:noAutofit/>
                    </a:bodyPr>
                    <a:lstStyle/>
                    <a:p>
                      <a:r>
                        <a:rPr sz="1875" b="1">
                          <a:solidFill>
                            <a:srgbClr val="F8F7F3"/>
                          </a:solidFill>
                          <a:latin typeface="Helvetica Neue"/>
                          <a:ea typeface="Helvetica Neue"/>
                          <a:cs typeface="Helvetica Neue"/>
                        </a:rPr>
                        <a:t>Control</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Meaning</a:t>
                      </a:r>
                    </a:p>
                  </a:txBody>
                  <a:tcPr marL="91440" marR="91440" marT="45720" marB="45720">
                    <a:solidFill>
                      <a:srgbClr val="252035"/>
                    </a:solidFill>
                  </a:tcPr>
                </a:tc>
              </a:tr>
              <a:tr h="704850">
                <a:tc>
                  <a:txBody>
                    <a:bodyPr>
                      <a:noAutofit/>
                    </a:bodyPr>
                    <a:lstStyle/>
                    <a:p>
                      <a:r>
                        <a:rPr sz="1875" b="0">
                          <a:solidFill>
                            <a:srgbClr val="232330"/>
                          </a:solidFill>
                          <a:latin typeface="Helvetica Neue"/>
                          <a:ea typeface="Helvetica Neue"/>
                          <a:cs typeface="Helvetica Neue"/>
                        </a:rPr>
                        <a:t>Inline status</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A label inside document content</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Content review</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Page lifecycle metadata</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Publication</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A recorded published version</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Named milestone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An identifiable content checkpoint</a:t>
                      </a:r>
                    </a:p>
                  </a:txBody>
                  <a:tcPr marL="91440" marR="91440" marT="45720" marB="45720">
                    <a:solidFill>
                      <a:srgbClr val="F8F7F3"/>
                    </a:solidFill>
                  </a:tcPr>
                </a:tc>
              </a:tr>
            </a:tbl>
          </a:graphicData>
        </a:graphic>
      </p:graphicFrame>
      <p:sp>
        <p:nvSpPr>
          <p:cNvPr id="3" name="">
            <a:extLst xmlns:a="http://schemas.openxmlformats.org/drawingml/2006/main">
              <a:ext uri="{FF2B5EF4-FFF2-40B4-BE49-F238E27FC236}">
                <a16:creationId xmlns:a16="http://schemas.microsoft.com/office/drawing/2014/main" id="{06361896-F6E5-4B6F-9D57-BE38A8878A7E}"/>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13</a:t>
            </a:r>
          </a:p>
        </p:txBody>
      </p:sp>
    </p:spTree>
    <p:extLst>
      <p:ext uri="{BB962C8B-B14F-4D97-AF65-F5344CB8AC3E}">
        <p14:creationId xmlns:p14="http://schemas.microsoft.com/office/powerpoint/2010/main" val="416942604"/>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832951-5B75-4581-8F47-7779090B7605}"/>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Access follows the resource</a:t>
            </a:r>
          </a:p>
        </p:txBody>
      </p:sp>
      <p:sp>
        <p:nvSpPr>
          <p:cNvPr id="2" name="">
            <a:extLst xmlns:a="http://schemas.openxmlformats.org/drawingml/2006/main">
              <a:ext uri="{FF2B5EF4-FFF2-40B4-BE49-F238E27FC236}">
                <a16:creationId xmlns:a16="http://schemas.microsoft.com/office/drawing/2014/main" id="{8DC54241-BC95-4744-9E20-E9F9FE374CFB}"/>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Team and project roles establish space access.</a:t>
            </a:r>
          </a:p>
        </p:txBody>
      </p:sp>
      <p:sp>
        <p:nvSpPr>
          <p:cNvPr id="3" name="">
            <a:extLst xmlns:a="http://schemas.openxmlformats.org/drawingml/2006/main">
              <a:ext uri="{FF2B5EF4-FFF2-40B4-BE49-F238E27FC236}">
                <a16:creationId xmlns:a16="http://schemas.microsoft.com/office/drawing/2014/main" id="{03C4C837-EA0B-4231-A0FB-1015D7FEAD7E}"/>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Page restrictions can narrow access to content.</a:t>
            </a:r>
          </a:p>
        </p:txBody>
      </p:sp>
      <p:sp>
        <p:nvSpPr>
          <p:cNvPr id="4" name="">
            <a:extLst xmlns:a="http://schemas.openxmlformats.org/drawingml/2006/main">
              <a:ext uri="{FF2B5EF4-FFF2-40B4-BE49-F238E27FC236}">
                <a16:creationId xmlns:a16="http://schemas.microsoft.com/office/drawing/2014/main" id="{6E332238-99EE-481C-BAB2-9DBB9AF13575}"/>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The server checks the caller for each protected operation.</a:t>
            </a:r>
          </a:p>
        </p:txBody>
      </p:sp>
      <p:sp>
        <p:nvSpPr>
          <p:cNvPr id="5" name="">
            <a:extLst xmlns:a="http://schemas.openxmlformats.org/drawingml/2006/main">
              <a:ext uri="{FF2B5EF4-FFF2-40B4-BE49-F238E27FC236}">
                <a16:creationId xmlns:a16="http://schemas.microsoft.com/office/drawing/2014/main" id="{3F2452A3-6FD8-45AB-800C-70ABD7B779DA}"/>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14</a:t>
            </a:r>
          </a:p>
        </p:txBody>
      </p:sp>
    </p:spTree>
    <p:extLst>
      <p:ext uri="{BB962C8B-B14F-4D97-AF65-F5344CB8AC3E}">
        <p14:creationId xmlns:p14="http://schemas.microsoft.com/office/powerpoint/2010/main" val="119050346"/>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5E2B065-6D6B-45C4-9877-4C0EE027C96A}"/>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Three different recovery operations</a:t>
            </a:r>
          </a:p>
        </p:txBody>
      </p:sp>
      <p:graphicFrame>
        <p:nvGraphicFramePr>
          <p:cNvPr id="5" name=""/>
          <p:cNvGraphicFramePr/>
          <p:nvPr/>
        </p:nvGraphicFramePr>
        <p:xfrm>
          <a:off xmlns:a="http://schemas.openxmlformats.org/drawingml/2006/main" x="723900" y="2019300"/>
          <a:ext xmlns:a="http://schemas.openxmlformats.org/drawingml/2006/main" cx="10744200" cy="2819400"/>
        </p:xfrm>
        <a:graphic xmlns:a="http://schemas.openxmlformats.org/drawingml/2006/main">
          <a:graphicData uri="http://schemas.openxmlformats.org/drawingml/2006/table">
            <a:tbl>
              <a:tblPr/>
              <a:tblGrid>
                <a:gridCol w="3581400"/>
                <a:gridCol w="3581400"/>
                <a:gridCol w="3581400"/>
              </a:tblGrid>
              <a:tr h="704850">
                <a:tc>
                  <a:txBody>
                    <a:bodyPr>
                      <a:noAutofit/>
                    </a:bodyPr>
                    <a:lstStyle/>
                    <a:p>
                      <a:r>
                        <a:rPr sz="1875" b="1">
                          <a:solidFill>
                            <a:srgbClr val="F8F7F3"/>
                          </a:solidFill>
                          <a:latin typeface="Helvetica Neue"/>
                          <a:ea typeface="Helvetica Neue"/>
                          <a:cs typeface="Helvetica Neue"/>
                        </a:rPr>
                        <a:t>Operation</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Scope</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Effect</a:t>
                      </a:r>
                    </a:p>
                  </a:txBody>
                  <a:tcPr marL="91440" marR="91440" marT="45720" marB="45720">
                    <a:solidFill>
                      <a:srgbClr val="252035"/>
                    </a:solidFill>
                  </a:tcPr>
                </a:tc>
              </a:tr>
              <a:tr h="704850">
                <a:tc>
                  <a:txBody>
                    <a:bodyPr>
                      <a:noAutofit/>
                    </a:bodyPr>
                    <a:lstStyle/>
                    <a:p>
                      <a:r>
                        <a:rPr sz="1875" b="0">
                          <a:solidFill>
                            <a:srgbClr val="232330"/>
                          </a:solidFill>
                          <a:latin typeface="Helvetica Neue"/>
                          <a:ea typeface="Helvetica Neue"/>
                          <a:cs typeface="Helvetica Neue"/>
                        </a:rPr>
                        <a:t>Page version restore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One page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Replace current page content</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Full backup restore</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Whole installation</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Replace data and uploads</a:t>
                      </a:r>
                    </a:p>
                  </a:txBody>
                  <a:tcPr marL="91440" marR="91440" marT="45720" marB="45720">
                    <a:solidFill>
                      <a:srgbClr val="F8F7F3"/>
                    </a:solidFill>
                  </a:tcPr>
                </a:tc>
              </a:tr>
              <a:tr h="704850">
                <a:tc>
                  <a:txBody>
                    <a:bodyPr>
                      <a:noAutofit/>
                    </a:bodyPr>
                    <a:lstStyle/>
                    <a:p>
                      <a:r>
                        <a:rPr sz="1875" b="0">
                          <a:solidFill>
                            <a:srgbClr val="232330"/>
                          </a:solidFill>
                          <a:latin typeface="Helvetica Neue"/>
                          <a:ea typeface="Helvetica Neue"/>
                          <a:cs typeface="Helvetica Neue"/>
                        </a:rPr>
                        <a:t>Air-gap sync import</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Tracked records and files</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Merge; review conflicts</a:t>
                      </a:r>
                    </a:p>
                  </a:txBody>
                  <a:tcPr marL="91440" marR="91440" marT="45720" marB="45720">
                    <a:solidFill>
                      <a:srgbClr val="F8F7F3"/>
                    </a:solidFill>
                  </a:tcPr>
                </a:tc>
              </a:tr>
            </a:tbl>
          </a:graphicData>
        </a:graphic>
      </p:graphicFrame>
      <p:sp>
        <p:nvSpPr>
          <p:cNvPr id="3" name="">
            <a:extLst xmlns:a="http://schemas.openxmlformats.org/drawingml/2006/main">
              <a:ext uri="{FF2B5EF4-FFF2-40B4-BE49-F238E27FC236}">
                <a16:creationId xmlns:a16="http://schemas.microsoft.com/office/drawing/2014/main" id="{E9C6E4AC-8E84-45A3-850C-E9649D3AB4A4}"/>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15</a:t>
            </a:r>
          </a:p>
        </p:txBody>
      </p:sp>
    </p:spTree>
    <p:extLst>
      <p:ext uri="{BB962C8B-B14F-4D97-AF65-F5344CB8AC3E}">
        <p14:creationId xmlns:p14="http://schemas.microsoft.com/office/powerpoint/2010/main" val="2019416014"/>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1867A5-3247-41DF-BE99-3BBDCFF77B60}"/>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The backup package</a:t>
            </a:r>
          </a:p>
        </p:txBody>
      </p:sp>
      <p:sp>
        <p:nvSpPr>
          <p:cNvPr id="2" name="">
            <a:extLst xmlns:a="http://schemas.openxmlformats.org/drawingml/2006/main">
              <a:ext uri="{FF2B5EF4-FFF2-40B4-BE49-F238E27FC236}">
                <a16:creationId xmlns:a16="http://schemas.microsoft.com/office/drawing/2014/main" id="{B45FA076-72A6-4C73-8E23-CEAD765BA651}"/>
              </a:ext>
            </a:extLst>
          </p:cNvPr>
          <p:cNvSpPr>
            <a:spLocks xmlns:a="http://schemas.openxmlformats.org/drawingml/2006/main" noGrp="1"/>
          </p:cNvSpPr>
          <p:nvPr/>
        </p:nvSpPr>
        <p:spPr>
          <a:xfrm xmlns:a="http://schemas.openxmlformats.org/drawingml/2006/main">
            <a:off x="762000" y="2057400"/>
            <a:ext cx="5429250" cy="3457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kollab-handbook.zip</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database_seed.json</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uploads/</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attachments/</a:t>
            </a:r>
          </a:p>
        </p:txBody>
      </p:sp>
      <p:sp>
        <p:nvSpPr>
          <p:cNvPr id="3" name="">
            <a:extLst xmlns:a="http://schemas.openxmlformats.org/drawingml/2006/main">
              <a:ext uri="{FF2B5EF4-FFF2-40B4-BE49-F238E27FC236}">
                <a16:creationId xmlns:a16="http://schemas.microsoft.com/office/drawing/2014/main" id="{7C144745-8161-4820-88DB-04B4378F394C}"/>
              </a:ext>
            </a:extLst>
          </p:cNvPr>
          <p:cNvSpPr>
            <a:spLocks xmlns:a="http://schemas.openxmlformats.org/drawingml/2006/main" noGrp="1"/>
          </p:cNvSpPr>
          <p:nvPr/>
        </p:nvSpPr>
        <p:spPr>
          <a:xfrm xmlns:a="http://schemas.openxmlformats.org/drawingml/2006/main">
            <a:off x="6800850" y="21907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Database rows use kollab.database.v2.</a:t>
            </a:r>
          </a:p>
        </p:txBody>
      </p:sp>
      <p:sp>
        <p:nvSpPr>
          <p:cNvPr id="4" name="">
            <a:extLst xmlns:a="http://schemas.openxmlformats.org/drawingml/2006/main">
              <a:ext uri="{FF2B5EF4-FFF2-40B4-BE49-F238E27FC236}">
                <a16:creationId xmlns:a16="http://schemas.microsoft.com/office/drawing/2014/main" id="{5D4B6EC5-C85D-494D-ADF3-3D693CE3ABEC}"/>
              </a:ext>
            </a:extLst>
          </p:cNvPr>
          <p:cNvSpPr>
            <a:spLocks xmlns:a="http://schemas.openxmlformats.org/drawingml/2006/main" noGrp="1"/>
          </p:cNvSpPr>
          <p:nvPr/>
        </p:nvSpPr>
        <p:spPr>
          <a:xfrm xmlns:a="http://schemas.openxmlformats.org/drawingml/2006/main">
            <a:off x="6800850" y="327660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Uploaded bytes travel with their metadata.</a:t>
            </a:r>
          </a:p>
        </p:txBody>
      </p:sp>
      <p:sp>
        <p:nvSpPr>
          <p:cNvPr id="5" name="">
            <a:extLst xmlns:a="http://schemas.openxmlformats.org/drawingml/2006/main">
              <a:ext uri="{FF2B5EF4-FFF2-40B4-BE49-F238E27FC236}">
                <a16:creationId xmlns:a16="http://schemas.microsoft.com/office/drawing/2014/main" id="{C6BEC8EE-1F10-4E19-95EA-0B1FFF6DFACA}"/>
              </a:ext>
            </a:extLst>
          </p:cNvPr>
          <p:cNvSpPr>
            <a:spLocks xmlns:a="http://schemas.openxmlformats.org/drawingml/2006/main" noGrp="1"/>
          </p:cNvSpPr>
          <p:nvPr/>
        </p:nvSpPr>
        <p:spPr>
          <a:xfrm xmlns:a="http://schemas.openxmlformats.org/drawingml/2006/main">
            <a:off x="6800850" y="43624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Restore checks the schema and migration ledger.</a:t>
            </a:r>
          </a:p>
        </p:txBody>
      </p:sp>
      <p:sp>
        <p:nvSpPr>
          <p:cNvPr id="6" name="">
            <a:extLst xmlns:a="http://schemas.openxmlformats.org/drawingml/2006/main">
              <a:ext uri="{FF2B5EF4-FFF2-40B4-BE49-F238E27FC236}">
                <a16:creationId xmlns:a16="http://schemas.microsoft.com/office/drawing/2014/main" id="{A5FB93F4-DA6C-4D8C-9045-3A887899A3BC}"/>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16</a:t>
            </a:r>
          </a:p>
        </p:txBody>
      </p:sp>
    </p:spTree>
    <p:extLst>
      <p:ext uri="{BB962C8B-B14F-4D97-AF65-F5344CB8AC3E}">
        <p14:creationId xmlns:p14="http://schemas.microsoft.com/office/powerpoint/2010/main" val="1641052806"/>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DC1835-C30C-4DD1-A3CA-9757C979D3AD}"/>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Application architecture</a:t>
            </a:r>
          </a:p>
        </p:txBody>
      </p:sp>
      <p:sp>
        <p:nvSpPr>
          <p:cNvPr id="2" name="">
            <a:extLst xmlns:a="http://schemas.openxmlformats.org/drawingml/2006/main">
              <a:ext uri="{FF2B5EF4-FFF2-40B4-BE49-F238E27FC236}">
                <a16:creationId xmlns:a16="http://schemas.microsoft.com/office/drawing/2014/main" id="{4D179856-4328-4E89-A506-36ACBF9EC969}"/>
              </a:ext>
            </a:extLst>
          </p:cNvPr>
          <p:cNvSpPr>
            <a:spLocks xmlns:a="http://schemas.openxmlformats.org/drawingml/2006/main" noGrp="1"/>
          </p:cNvSpPr>
          <p:nvPr/>
        </p:nvSpPr>
        <p:spPr>
          <a:xfrm xmlns:a="http://schemas.openxmlformats.org/drawingml/2006/main">
            <a:off x="742950" y="2095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Client and API</a:t>
            </a:r>
          </a:p>
        </p:txBody>
      </p:sp>
      <p:sp>
        <p:nvSpPr>
          <p:cNvPr id="3" name="">
            <a:extLst xmlns:a="http://schemas.openxmlformats.org/drawingml/2006/main">
              <a:ext uri="{FF2B5EF4-FFF2-40B4-BE49-F238E27FC236}">
                <a16:creationId xmlns:a16="http://schemas.microsoft.com/office/drawing/2014/main" id="{DABE227F-9206-4E1C-B5D3-D5DDEE310090}"/>
              </a:ext>
            </a:extLst>
          </p:cNvPr>
          <p:cNvSpPr>
            <a:spLocks xmlns:a="http://schemas.openxmlformats.org/drawingml/2006/main" noGrp="1"/>
          </p:cNvSpPr>
          <p:nvPr/>
        </p:nvSpPr>
        <p:spPr>
          <a:xfrm xmlns:a="http://schemas.openxmlformats.org/drawingml/2006/main">
            <a:off x="6515100" y="2095500"/>
            <a:ext cx="4914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243B7"/>
                </a:solidFill>
                <a:latin typeface="Helvetica Neue"/>
                <a:ea typeface="Helvetica Neue"/>
                <a:cs typeface="Helvetica Neue"/>
              </a:defRPr>
            </a:pPr>
            <a:r>
              <a:rPr sz="2325" b="1">
                <a:solidFill>
                  <a:srgbClr val="6243B7"/>
                </a:solidFill>
                <a:latin typeface="Helvetica Neue"/>
                <a:ea typeface="Helvetica Neue"/>
                <a:cs typeface="Helvetica Neue"/>
              </a:rPr>
              <a:t>Shared persistence</a:t>
            </a:r>
          </a:p>
        </p:txBody>
      </p:sp>
      <p:sp>
        <p:nvSpPr>
          <p:cNvPr id="4" name="">
            <a:extLst xmlns:a="http://schemas.openxmlformats.org/drawingml/2006/main">
              <a:ext uri="{FF2B5EF4-FFF2-40B4-BE49-F238E27FC236}">
                <a16:creationId xmlns:a16="http://schemas.microsoft.com/office/drawing/2014/main" id="{579C43EC-F799-4A2B-8D40-4A7782312C88}"/>
              </a:ext>
            </a:extLst>
          </p:cNvPr>
          <p:cNvSpPr>
            <a:spLocks xmlns:a="http://schemas.openxmlformats.org/drawingml/2006/main" noGrp="1"/>
          </p:cNvSpPr>
          <p:nvPr/>
        </p:nvSpPr>
        <p:spPr>
          <a:xfrm xmlns:a="http://schemas.openxmlformats.org/drawingml/2006/main">
            <a:off x="742950" y="28003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React renders routed workspace pages.</a:t>
            </a:r>
          </a:p>
        </p:txBody>
      </p:sp>
      <p:sp>
        <p:nvSpPr>
          <p:cNvPr id="5" name="">
            <a:extLst xmlns:a="http://schemas.openxmlformats.org/drawingml/2006/main">
              <a:ext uri="{FF2B5EF4-FFF2-40B4-BE49-F238E27FC236}">
                <a16:creationId xmlns:a16="http://schemas.microsoft.com/office/drawing/2014/main" id="{497C7165-C515-4ECE-91C2-B47098BACD88}"/>
              </a:ext>
            </a:extLst>
          </p:cNvPr>
          <p:cNvSpPr>
            <a:spLocks xmlns:a="http://schemas.openxmlformats.org/drawingml/2006/main" noGrp="1"/>
          </p:cNvSpPr>
          <p:nvPr/>
        </p:nvSpPr>
        <p:spPr>
          <a:xfrm xmlns:a="http://schemas.openxmlformats.org/drawingml/2006/main">
            <a:off x="742950" y="37147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Tiptap and Yjs support structured collaboration.</a:t>
            </a:r>
          </a:p>
        </p:txBody>
      </p:sp>
      <p:sp>
        <p:nvSpPr>
          <p:cNvPr id="6" name="">
            <a:extLst xmlns:a="http://schemas.openxmlformats.org/drawingml/2006/main">
              <a:ext uri="{FF2B5EF4-FFF2-40B4-BE49-F238E27FC236}">
                <a16:creationId xmlns:a16="http://schemas.microsoft.com/office/drawing/2014/main" id="{10CAF723-F4CA-41E7-A4AA-62347E71CEB0}"/>
              </a:ext>
            </a:extLst>
          </p:cNvPr>
          <p:cNvSpPr>
            <a:spLocks xmlns:a="http://schemas.openxmlformats.org/drawingml/2006/main" noGrp="1"/>
          </p:cNvSpPr>
          <p:nvPr/>
        </p:nvSpPr>
        <p:spPr>
          <a:xfrm xmlns:a="http://schemas.openxmlformats.org/drawingml/2006/main">
            <a:off x="742950" y="4629150"/>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Go handlers and services enforce behavior.</a:t>
            </a:r>
          </a:p>
        </p:txBody>
      </p:sp>
      <p:sp>
        <p:nvSpPr>
          <p:cNvPr id="7" name="">
            <a:extLst xmlns:a="http://schemas.openxmlformats.org/drawingml/2006/main">
              <a:ext uri="{FF2B5EF4-FFF2-40B4-BE49-F238E27FC236}">
                <a16:creationId xmlns:a16="http://schemas.microsoft.com/office/drawing/2014/main" id="{5B0DD01B-4946-4B7E-B2EC-999DCD7BD655}"/>
              </a:ext>
            </a:extLst>
          </p:cNvPr>
          <p:cNvSpPr>
            <a:spLocks xmlns:a="http://schemas.openxmlformats.org/drawingml/2006/main" noGrp="1"/>
          </p:cNvSpPr>
          <p:nvPr/>
        </p:nvSpPr>
        <p:spPr>
          <a:xfrm xmlns:a="http://schemas.openxmlformats.org/drawingml/2006/main">
            <a:off x="6515100" y="28003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PostgreSQL stores application state.</a:t>
            </a:r>
          </a:p>
        </p:txBody>
      </p:sp>
      <p:sp>
        <p:nvSpPr>
          <p:cNvPr id="8" name="">
            <a:extLst xmlns:a="http://schemas.openxmlformats.org/drawingml/2006/main">
              <a:ext uri="{FF2B5EF4-FFF2-40B4-BE49-F238E27FC236}">
                <a16:creationId xmlns:a16="http://schemas.microsoft.com/office/drawing/2014/main" id="{1077A6CB-C353-40E0-9074-2E0E916CA7D3}"/>
              </a:ext>
            </a:extLst>
          </p:cNvPr>
          <p:cNvSpPr>
            <a:spLocks xmlns:a="http://schemas.openxmlformats.org/drawingml/2006/main" noGrp="1"/>
          </p:cNvSpPr>
          <p:nvPr/>
        </p:nvSpPr>
        <p:spPr>
          <a:xfrm xmlns:a="http://schemas.openxmlformats.org/drawingml/2006/main">
            <a:off x="6515100" y="37147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An uploads filesystem holds file bytes.</a:t>
            </a:r>
          </a:p>
        </p:txBody>
      </p:sp>
      <p:sp>
        <p:nvSpPr>
          <p:cNvPr id="9" name="">
            <a:extLst xmlns:a="http://schemas.openxmlformats.org/drawingml/2006/main">
              <a:ext uri="{FF2B5EF4-FFF2-40B4-BE49-F238E27FC236}">
                <a16:creationId xmlns:a16="http://schemas.microsoft.com/office/drawing/2014/main" id="{2ECE6AD2-F489-4C04-8BB8-93057C5430AA}"/>
              </a:ext>
            </a:extLst>
          </p:cNvPr>
          <p:cNvSpPr>
            <a:spLocks xmlns:a="http://schemas.openxmlformats.org/drawingml/2006/main" noGrp="1"/>
          </p:cNvSpPr>
          <p:nvPr/>
        </p:nvSpPr>
        <p:spPr>
          <a:xfrm xmlns:a="http://schemas.openxmlformats.org/drawingml/2006/main">
            <a:off x="6515100" y="46291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32330"/>
                </a:solidFill>
                <a:latin typeface="Helvetica Neue"/>
                <a:ea typeface="Helvetica Neue"/>
                <a:cs typeface="Helvetica Neue"/>
              </a:defRPr>
            </a:pPr>
            <a:r>
              <a:rPr sz="2175" b="0">
                <a:solidFill>
                  <a:srgbClr val="232330"/>
                </a:solidFill>
                <a:latin typeface="Helvetica Neue"/>
                <a:ea typeface="Helvetica Neue"/>
                <a:cs typeface="Helvetica Neue"/>
              </a:rPr>
              <a:t>Caddy fronts the API replicas.</a:t>
            </a:r>
          </a:p>
        </p:txBody>
      </p:sp>
      <p:sp>
        <p:nvSpPr>
          <p:cNvPr id="10" name="">
            <a:extLst xmlns:a="http://schemas.openxmlformats.org/drawingml/2006/main">
              <a:ext uri="{FF2B5EF4-FFF2-40B4-BE49-F238E27FC236}">
                <a16:creationId xmlns:a16="http://schemas.microsoft.com/office/drawing/2014/main" id="{197343E6-F7BA-4AE4-9B92-BC8C20318342}"/>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17</a:t>
            </a:r>
          </a:p>
        </p:txBody>
      </p:sp>
    </p:spTree>
    <p:extLst>
      <p:ext uri="{BB962C8B-B14F-4D97-AF65-F5344CB8AC3E}">
        <p14:creationId xmlns:p14="http://schemas.microsoft.com/office/powerpoint/2010/main" val="13452501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34CB45-30EC-4E09-AFC1-5B3E1E734F37}"/>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The editor's data contract</a:t>
            </a:r>
          </a:p>
        </p:txBody>
      </p:sp>
      <p:sp>
        <p:nvSpPr>
          <p:cNvPr id="2" name="">
            <a:extLst xmlns:a="http://schemas.openxmlformats.org/drawingml/2006/main">
              <a:ext uri="{FF2B5EF4-FFF2-40B4-BE49-F238E27FC236}">
                <a16:creationId xmlns:a16="http://schemas.microsoft.com/office/drawing/2014/main" id="{263558F5-0E6C-41DB-B3C3-F83B4C3E0895}"/>
              </a:ext>
            </a:extLst>
          </p:cNvPr>
          <p:cNvSpPr>
            <a:spLocks xmlns:a="http://schemas.openxmlformats.org/drawingml/2006/main" noGrp="1"/>
          </p:cNvSpPr>
          <p:nvPr/>
        </p:nvSpPr>
        <p:spPr>
          <a:xfrm xmlns:a="http://schemas.openxmlformats.org/drawingml/2006/main">
            <a:off x="762000" y="2057400"/>
            <a:ext cx="5429250" cy="3457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"type": "macroBlock",</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"attrs": {</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"type": "page-properties",</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"config": { "properties": [] }</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  }</a:t>
            </a:r>
          </a:p>
          <a:p xmlns:a="http://schemas.openxmlformats.org/drawingml/2006/main">
            <a:pPr>
              <a:defRPr sz="2400" b="0">
                <a:solidFill>
                  <a:srgbClr val="6243B7"/>
                </a:solidFill>
                <a:latin typeface="Helvetica Neue"/>
                <a:ea typeface="Helvetica Neue"/>
                <a:cs typeface="Helvetica Neue"/>
              </a:defRPr>
            </a:pPr>
            <a:r>
              <a:rPr sz="2400" b="0">
                <a:solidFill>
                  <a:srgbClr val="6243B7"/>
                </a:solidFill>
                <a:latin typeface="Helvetica Neue"/>
                <a:ea typeface="Helvetica Neue"/>
                <a:cs typeface="Helvetica Neue"/>
              </a:rPr>
              <a:t>}</a:t>
            </a:r>
          </a:p>
        </p:txBody>
      </p:sp>
      <p:sp>
        <p:nvSpPr>
          <p:cNvPr id="3" name="">
            <a:extLst xmlns:a="http://schemas.openxmlformats.org/drawingml/2006/main">
              <a:ext uri="{FF2B5EF4-FFF2-40B4-BE49-F238E27FC236}">
                <a16:creationId xmlns:a16="http://schemas.microsoft.com/office/drawing/2014/main" id="{B137C413-06A8-4706-BCD0-76D537C8A15D}"/>
              </a:ext>
            </a:extLst>
          </p:cNvPr>
          <p:cNvSpPr>
            <a:spLocks xmlns:a="http://schemas.openxmlformats.org/drawingml/2006/main" noGrp="1"/>
          </p:cNvSpPr>
          <p:nvPr/>
        </p:nvSpPr>
        <p:spPr>
          <a:xfrm xmlns:a="http://schemas.openxmlformats.org/drawingml/2006/main">
            <a:off x="6800850" y="21907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Registered nodes define valid document structure.</a:t>
            </a:r>
          </a:p>
        </p:txBody>
      </p:sp>
      <p:sp>
        <p:nvSpPr>
          <p:cNvPr id="4" name="">
            <a:extLst xmlns:a="http://schemas.openxmlformats.org/drawingml/2006/main">
              <a:ext uri="{FF2B5EF4-FFF2-40B4-BE49-F238E27FC236}">
                <a16:creationId xmlns:a16="http://schemas.microsoft.com/office/drawing/2014/main" id="{BF4B0711-F3B2-4F55-AD8F-55005B60ED9F}"/>
              </a:ext>
            </a:extLst>
          </p:cNvPr>
          <p:cNvSpPr>
            <a:spLocks xmlns:a="http://schemas.openxmlformats.org/drawingml/2006/main" noGrp="1"/>
          </p:cNvSpPr>
          <p:nvPr/>
        </p:nvSpPr>
        <p:spPr>
          <a:xfrm xmlns:a="http://schemas.openxmlformats.org/drawingml/2006/main">
            <a:off x="6800850" y="327660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Atom macros use typed configuration.</a:t>
            </a:r>
          </a:p>
        </p:txBody>
      </p:sp>
      <p:sp>
        <p:nvSpPr>
          <p:cNvPr id="5" name="">
            <a:extLst xmlns:a="http://schemas.openxmlformats.org/drawingml/2006/main">
              <a:ext uri="{FF2B5EF4-FFF2-40B4-BE49-F238E27FC236}">
                <a16:creationId xmlns:a16="http://schemas.microsoft.com/office/drawing/2014/main" id="{814F0F1B-F048-4DC3-BACC-609DB9207677}"/>
              </a:ext>
            </a:extLst>
          </p:cNvPr>
          <p:cNvSpPr>
            <a:spLocks xmlns:a="http://schemas.openxmlformats.org/drawingml/2006/main" noGrp="1"/>
          </p:cNvSpPr>
          <p:nvPr/>
        </p:nvSpPr>
        <p:spPr>
          <a:xfrm xmlns:a="http://schemas.openxmlformats.org/drawingml/2006/main">
            <a:off x="6800850" y="4362450"/>
            <a:ext cx="4619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32330"/>
                </a:solidFill>
                <a:latin typeface="Helvetica Neue"/>
                <a:ea typeface="Helvetica Neue"/>
                <a:cs typeface="Helvetica Neue"/>
              </a:defRPr>
            </a:pPr>
            <a:r>
              <a:rPr sz="2100" b="0">
                <a:solidFill>
                  <a:srgbClr val="232330"/>
                </a:solidFill>
                <a:latin typeface="Helvetica Neue"/>
                <a:ea typeface="Helvetica Neue"/>
                <a:cs typeface="Helvetica Neue"/>
              </a:rPr>
              <a:t>Derived indexes support reports and tasks.</a:t>
            </a:r>
          </a:p>
        </p:txBody>
      </p:sp>
      <p:sp>
        <p:nvSpPr>
          <p:cNvPr id="6" name="">
            <a:extLst xmlns:a="http://schemas.openxmlformats.org/drawingml/2006/main">
              <a:ext uri="{FF2B5EF4-FFF2-40B4-BE49-F238E27FC236}">
                <a16:creationId xmlns:a16="http://schemas.microsoft.com/office/drawing/2014/main" id="{A3FA7982-77D0-420C-BBEE-003E0809224F}"/>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18</a:t>
            </a:r>
          </a:p>
        </p:txBody>
      </p:sp>
    </p:spTree>
    <p:extLst>
      <p:ext uri="{BB962C8B-B14F-4D97-AF65-F5344CB8AC3E}">
        <p14:creationId xmlns:p14="http://schemas.microsoft.com/office/powerpoint/2010/main" val="1699710232"/>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CB40A74-EDB8-4C78-B0C0-517A040EB133}"/>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Optional services and prototypes</a:t>
            </a:r>
          </a:p>
        </p:txBody>
      </p:sp>
      <p:graphicFrame>
        <p:nvGraphicFramePr>
          <p:cNvPr id="5" name=""/>
          <p:cNvGraphicFramePr/>
          <p:nvPr/>
        </p:nvGraphicFramePr>
        <p:xfrm>
          <a:off xmlns:a="http://schemas.openxmlformats.org/drawingml/2006/main" x="723900" y="2019300"/>
          <a:ext xmlns:a="http://schemas.openxmlformats.org/drawingml/2006/main" cx="10744200" cy="3638550"/>
        </p:xfrm>
        <a:graphic xmlns:a="http://schemas.openxmlformats.org/drawingml/2006/main">
          <a:graphicData uri="http://schemas.openxmlformats.org/drawingml/2006/table">
            <a:tbl>
              <a:tblPr/>
              <a:tblGrid>
                <a:gridCol w="5372100"/>
                <a:gridCol w="5372100"/>
              </a:tblGrid>
              <a:tr h="606425">
                <a:tc>
                  <a:txBody>
                    <a:bodyPr>
                      <a:noAutofit/>
                    </a:bodyPr>
                    <a:lstStyle/>
                    <a:p>
                      <a:r>
                        <a:rPr sz="1875" b="1">
                          <a:solidFill>
                            <a:srgbClr val="F8F7F3"/>
                          </a:solidFill>
                          <a:latin typeface="Helvetica Neue"/>
                          <a:ea typeface="Helvetica Neue"/>
                          <a:cs typeface="Helvetica Neue"/>
                        </a:rPr>
                        <a:t>Capability</a:t>
                      </a:r>
                    </a:p>
                  </a:txBody>
                  <a:tcPr marL="91440" marR="91440" marT="45720" marB="45720">
                    <a:solidFill>
                      <a:srgbClr val="252035"/>
                    </a:solidFill>
                  </a:tcPr>
                </a:tc>
                <a:tc>
                  <a:txBody>
                    <a:bodyPr>
                      <a:noAutofit/>
                    </a:bodyPr>
                    <a:lstStyle/>
                    <a:p>
                      <a:r>
                        <a:rPr sz="1875" b="1">
                          <a:solidFill>
                            <a:srgbClr val="F8F7F3"/>
                          </a:solidFill>
                          <a:latin typeface="Helvetica Neue"/>
                          <a:ea typeface="Helvetica Neue"/>
                          <a:cs typeface="Helvetica Neue"/>
                        </a:rPr>
                        <a:t>Requirement or status</a:t>
                      </a:r>
                    </a:p>
                  </a:txBody>
                  <a:tcPr marL="91440" marR="91440" marT="45720" marB="45720">
                    <a:solidFill>
                      <a:srgbClr val="252035"/>
                    </a:solidFill>
                  </a:tcPr>
                </a:tc>
              </a:tr>
              <a:tr h="606425">
                <a:tc>
                  <a:txBody>
                    <a:bodyPr>
                      <a:noAutofit/>
                    </a:bodyPr>
                    <a:lstStyle/>
                    <a:p>
                      <a:r>
                        <a:rPr sz="1875" b="0">
                          <a:solidFill>
                            <a:srgbClr val="232330"/>
                          </a:solidFill>
                          <a:latin typeface="Helvetica Neue"/>
                          <a:ea typeface="Helvetica Neue"/>
                          <a:cs typeface="Helvetica Neue"/>
                        </a:rPr>
                        <a:t>Semantic search and AI writing</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Configured compatible provider</a:t>
                      </a:r>
                    </a:p>
                  </a:txBody>
                  <a:tcPr marL="91440" marR="91440" marT="45720" marB="45720">
                    <a:solidFill>
                      <a:srgbClr val="F8F7F3"/>
                    </a:solidFill>
                  </a:tcPr>
                </a:tc>
              </a:tr>
              <a:tr h="606425">
                <a:tc>
                  <a:txBody>
                    <a:bodyPr>
                      <a:noAutofit/>
                    </a:bodyPr>
                    <a:lstStyle/>
                    <a:p>
                      <a:r>
                        <a:rPr sz="1875" b="0">
                          <a:solidFill>
                            <a:srgbClr val="232330"/>
                          </a:solidFill>
                          <a:latin typeface="Helvetica Neue"/>
                          <a:ea typeface="Helvetica Neue"/>
                          <a:cs typeface="Helvetica Neue"/>
                        </a:rPr>
                        <a:t>GitLab issue macros</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Trusted configured connection</a:t>
                      </a:r>
                    </a:p>
                  </a:txBody>
                  <a:tcPr marL="91440" marR="91440" marT="45720" marB="45720">
                    <a:solidFill>
                      <a:srgbClr val="F8F7F3"/>
                    </a:solidFill>
                  </a:tcPr>
                </a:tc>
              </a:tr>
              <a:tr h="606425">
                <a:tc>
                  <a:txBody>
                    <a:bodyPr>
                      <a:noAutofit/>
                    </a:bodyPr>
                    <a:lstStyle/>
                    <a:p>
                      <a:r>
                        <a:rPr sz="1875" b="0">
                          <a:solidFill>
                            <a:srgbClr val="232330"/>
                          </a:solidFill>
                          <a:latin typeface="Helvetica Neue"/>
                          <a:ea typeface="Helvetica Neue"/>
                          <a:cs typeface="Helvetica Neue"/>
                        </a:rPr>
                        <a:t>Office preview</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Media-preview service</a:t>
                      </a:r>
                    </a:p>
                  </a:txBody>
                  <a:tcPr marL="91440" marR="91440" marT="45720" marB="45720">
                    <a:solidFill>
                      <a:srgbClr val="F8F7F3"/>
                    </a:solidFill>
                  </a:tcPr>
                </a:tc>
              </a:tr>
              <a:tr h="606425">
                <a:tc>
                  <a:txBody>
                    <a:bodyPr>
                      <a:noAutofit/>
                    </a:bodyPr>
                    <a:lstStyle/>
                    <a:p>
                      <a:r>
                        <a:rPr sz="1875" b="0">
                          <a:solidFill>
                            <a:srgbClr val="232330"/>
                          </a:solidFill>
                          <a:latin typeface="Helvetica Neue"/>
                          <a:ea typeface="Helvetica Neue"/>
                          <a:cs typeface="Helvetica Neue"/>
                        </a:rPr>
                        <a:t>Draw.io editor</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External diagrams.net embed</a:t>
                      </a:r>
                    </a:p>
                  </a:txBody>
                  <a:tcPr marL="91440" marR="91440" marT="45720" marB="45720">
                    <a:solidFill>
                      <a:srgbClr val="F8F7F3"/>
                    </a:solidFill>
                  </a:tcPr>
                </a:tc>
              </a:tr>
              <a:tr h="606425">
                <a:tc>
                  <a:txBody>
                    <a:bodyPr>
                      <a:noAutofit/>
                    </a:bodyPr>
                    <a:lstStyle/>
                    <a:p>
                      <a:r>
                        <a:rPr sz="1875" b="0">
                          <a:solidFill>
                            <a:srgbClr val="232330"/>
                          </a:solidFill>
                          <a:latin typeface="Helvetica Neue"/>
                          <a:ea typeface="Helvetica Neue"/>
                          <a:cs typeface="Helvetica Neue"/>
                        </a:rPr>
                        <a:t>Azure backup and Jira</a:t>
                      </a:r>
                    </a:p>
                  </a:txBody>
                  <a:tcPr marL="91440" marR="91440" marT="45720" marB="45720">
                    <a:solidFill>
                      <a:srgbClr val="F8F7F3"/>
                    </a:solidFill>
                  </a:tcPr>
                </a:tc>
                <a:tc>
                  <a:txBody>
                    <a:bodyPr>
                      <a:noAutofit/>
                    </a:bodyPr>
                    <a:lstStyle/>
                    <a:p>
                      <a:r>
                        <a:rPr sz="1875" b="0">
                          <a:solidFill>
                            <a:srgbClr val="232330"/>
                          </a:solidFill>
                          <a:latin typeface="Helvetica Neue"/>
                          <a:ea typeface="Helvetica Neue"/>
                          <a:cs typeface="Helvetica Neue"/>
                        </a:rPr>
                        <a:t>Prototype screens</a:t>
                      </a:r>
                    </a:p>
                  </a:txBody>
                  <a:tcPr marL="91440" marR="91440" marT="45720" marB="45720">
                    <a:solidFill>
                      <a:srgbClr val="F8F7F3"/>
                    </a:solidFill>
                  </a:tcPr>
                </a:tc>
              </a:tr>
            </a:tbl>
          </a:graphicData>
        </a:graphic>
      </p:graphicFrame>
      <p:sp>
        <p:nvSpPr>
          <p:cNvPr id="3" name="">
            <a:extLst xmlns:a="http://schemas.openxmlformats.org/drawingml/2006/main">
              <a:ext uri="{FF2B5EF4-FFF2-40B4-BE49-F238E27FC236}">
                <a16:creationId xmlns:a16="http://schemas.microsoft.com/office/drawing/2014/main" id="{67920ED6-A122-43E5-919F-875E8098D29D}"/>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19</a:t>
            </a:r>
          </a:p>
        </p:txBody>
      </p:sp>
    </p:spTree>
    <p:extLst>
      <p:ext uri="{BB962C8B-B14F-4D97-AF65-F5344CB8AC3E}">
        <p14:creationId xmlns:p14="http://schemas.microsoft.com/office/powerpoint/2010/main" val="1128005212"/>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8EAF68-5EF6-4E82-8579-2CC77E9A11CD}"/>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Guided practice</a:t>
            </a:r>
          </a:p>
        </p:txBody>
      </p:sp>
      <p:sp>
        <p:nvSpPr>
          <p:cNvPr id="2" name="">
            <a:extLst xmlns:a="http://schemas.openxmlformats.org/drawingml/2006/main">
              <a:ext uri="{FF2B5EF4-FFF2-40B4-BE49-F238E27FC236}">
                <a16:creationId xmlns:a16="http://schemas.microsoft.com/office/drawing/2014/main" id="{F32B7A4D-604F-4B02-BFD3-1B4B62F4F994}"/>
              </a:ext>
            </a:extLst>
          </p:cNvPr>
          <p:cNvSpPr>
            <a:spLocks xmlns:a="http://schemas.openxmlformats.org/drawingml/2006/main" noGrp="1"/>
          </p:cNvSpPr>
          <p:nvPr/>
        </p:nvSpPr>
        <p:spPr>
          <a:xfrm xmlns:a="http://schemas.openxmlformats.org/drawingml/2006/main">
            <a:off x="762000" y="20478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A770458-D40D-4081-A7ED-C8F680C7259C}"/>
              </a:ext>
            </a:extLst>
          </p:cNvPr>
          <p:cNvSpPr>
            <a:spLocks xmlns:a="http://schemas.openxmlformats.org/drawingml/2006/main" noGrp="1"/>
          </p:cNvSpPr>
          <p:nvPr/>
        </p:nvSpPr>
        <p:spPr>
          <a:xfrm xmlns:a="http://schemas.openxmlformats.org/drawingml/2006/main">
            <a:off x="1752600" y="20478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Build a technical page with purposeful macros.</a:t>
            </a:r>
          </a:p>
        </p:txBody>
      </p:sp>
      <p:sp>
        <p:nvSpPr>
          <p:cNvPr id="4" name="">
            <a:extLst xmlns:a="http://schemas.openxmlformats.org/drawingml/2006/main">
              <a:ext uri="{FF2B5EF4-FFF2-40B4-BE49-F238E27FC236}">
                <a16:creationId xmlns:a16="http://schemas.microsoft.com/office/drawing/2014/main" id="{DEDEC927-098E-4003-9514-159337C0F067}"/>
              </a:ext>
            </a:extLst>
          </p:cNvPr>
          <p:cNvSpPr>
            <a:spLocks xmlns:a="http://schemas.openxmlformats.org/drawingml/2006/main" noGrp="1"/>
          </p:cNvSpPr>
          <p:nvPr/>
        </p:nvSpPr>
        <p:spPr>
          <a:xfrm xmlns:a="http://schemas.openxmlformats.org/drawingml/2006/main">
            <a:off x="762000" y="29622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2406753-34BD-4CEF-9FB6-2FF8D94EDEA9}"/>
              </a:ext>
            </a:extLst>
          </p:cNvPr>
          <p:cNvSpPr>
            <a:spLocks xmlns:a="http://schemas.openxmlformats.org/drawingml/2006/main" noGrp="1"/>
          </p:cNvSpPr>
          <p:nvPr/>
        </p:nvSpPr>
        <p:spPr>
          <a:xfrm xmlns:a="http://schemas.openxmlformats.org/drawingml/2006/main">
            <a:off x="1752600" y="29622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Review a change and inspect a named checkpoint.</a:t>
            </a:r>
          </a:p>
        </p:txBody>
      </p:sp>
      <p:sp>
        <p:nvSpPr>
          <p:cNvPr id="6" name="">
            <a:extLst xmlns:a="http://schemas.openxmlformats.org/drawingml/2006/main">
              <a:ext uri="{FF2B5EF4-FFF2-40B4-BE49-F238E27FC236}">
                <a16:creationId xmlns:a16="http://schemas.microsoft.com/office/drawing/2014/main" id="{D4CA4CD9-A838-4F19-A5DF-A850EFE6BCA0}"/>
              </a:ext>
            </a:extLst>
          </p:cNvPr>
          <p:cNvSpPr>
            <a:spLocks xmlns:a="http://schemas.openxmlformats.org/drawingml/2006/main" noGrp="1"/>
          </p:cNvSpPr>
          <p:nvPr/>
        </p:nvSpPr>
        <p:spPr>
          <a:xfrm xmlns:a="http://schemas.openxmlformats.org/drawingml/2006/main">
            <a:off x="762000" y="387667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6243B7"/>
                </a:solidFill>
                <a:latin typeface="Helvetica Neue"/>
                <a:ea typeface="Helvetica Neue"/>
                <a:cs typeface="Helvetica Neue"/>
              </a:defRPr>
            </a:pPr>
            <a:r>
              <a:rPr sz="3075" b="1">
                <a:solidFill>
                  <a:srgbClr val="6243B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954C58B-A250-4F3D-A75C-A543206B9EE4}"/>
              </a:ext>
            </a:extLst>
          </p:cNvPr>
          <p:cNvSpPr>
            <a:spLocks xmlns:a="http://schemas.openxmlformats.org/drawingml/2006/main" noGrp="1"/>
          </p:cNvSpPr>
          <p:nvPr/>
        </p:nvSpPr>
        <p:spPr>
          <a:xfrm xmlns:a="http://schemas.openxmlformats.org/drawingml/2006/main">
            <a:off x="1752600" y="3876675"/>
            <a:ext cx="962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Trace page properties from the editor to PostgreSQL.</a:t>
            </a:r>
          </a:p>
        </p:txBody>
      </p:sp>
      <p:sp>
        <p:nvSpPr>
          <p:cNvPr id="8" name="">
            <a:extLst xmlns:a="http://schemas.openxmlformats.org/drawingml/2006/main">
              <a:ext uri="{FF2B5EF4-FFF2-40B4-BE49-F238E27FC236}">
                <a16:creationId xmlns:a16="http://schemas.microsoft.com/office/drawing/2014/main" id="{76403C49-9897-4175-AF5A-0A200EA29A9E}"/>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20</a:t>
            </a:r>
          </a:p>
        </p:txBody>
      </p:sp>
    </p:spTree>
    <p:extLst>
      <p:ext uri="{BB962C8B-B14F-4D97-AF65-F5344CB8AC3E}">
        <p14:creationId xmlns:p14="http://schemas.microsoft.com/office/powerpoint/2010/main" val="1445030623"/>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489DA7-03CE-43D0-AA34-5762043C7FCF}"/>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32330"/>
                </a:solidFill>
                <a:latin typeface="Helvetica Neue"/>
                <a:ea typeface="Helvetica Neue"/>
                <a:cs typeface="Helvetica Neue"/>
              </a:defRPr>
            </a:pPr>
            <a:r>
              <a:rPr sz="3600" b="1">
                <a:solidFill>
                  <a:srgbClr val="232330"/>
                </a:solidFill>
                <a:latin typeface="Helvetica Neue"/>
                <a:ea typeface="Helvetica Neue"/>
                <a:cs typeface="Helvetica Neue"/>
              </a:rPr>
              <a:t>Maintaining the handbook</a:t>
            </a:r>
          </a:p>
        </p:txBody>
      </p:sp>
      <p:sp>
        <p:nvSpPr>
          <p:cNvPr id="2" name="">
            <a:extLst xmlns:a="http://schemas.openxmlformats.org/drawingml/2006/main">
              <a:ext uri="{FF2B5EF4-FFF2-40B4-BE49-F238E27FC236}">
                <a16:creationId xmlns:a16="http://schemas.microsoft.com/office/drawing/2014/main" id="{F8ACCC35-D173-40DA-AE07-63EB233B3A78}"/>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Edit guides, design references, and curated source pages in Git.</a:t>
            </a:r>
          </a:p>
        </p:txBody>
      </p:sp>
      <p:sp>
        <p:nvSpPr>
          <p:cNvPr id="3" name="">
            <a:extLst xmlns:a="http://schemas.openxmlformats.org/drawingml/2006/main">
              <a:ext uri="{FF2B5EF4-FFF2-40B4-BE49-F238E27FC236}">
                <a16:creationId xmlns:a16="http://schemas.microsoft.com/office/drawing/2014/main" id="{AA423367-8105-4434-BB88-57E2499F4BA9}"/>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Regenerate the pages and training deck.</a:t>
            </a:r>
          </a:p>
        </p:txBody>
      </p:sp>
      <p:sp>
        <p:nvSpPr>
          <p:cNvPr id="4" name="">
            <a:extLst xmlns:a="http://schemas.openxmlformats.org/drawingml/2006/main">
              <a:ext uri="{FF2B5EF4-FFF2-40B4-BE49-F238E27FC236}">
                <a16:creationId xmlns:a16="http://schemas.microsoft.com/office/drawing/2014/main" id="{18DACFC8-548C-4FA3-A241-90DE07ACFEFC}"/>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32330"/>
                </a:solidFill>
                <a:latin typeface="Helvetica Neue"/>
                <a:ea typeface="Helvetica Neue"/>
                <a:cs typeface="Helvetica Neue"/>
              </a:defRPr>
            </a:pPr>
            <a:r>
              <a:rPr sz="2550" b="0">
                <a:solidFill>
                  <a:srgbClr val="232330"/>
                </a:solidFill>
                <a:latin typeface="Helvetica Neue"/>
                <a:ea typeface="Helvetica Neue"/>
                <a:cs typeface="Helvetica Neue"/>
              </a:rPr>
              <a:t>Verify the archive, then rehearse in a fresh instance.</a:t>
            </a:r>
          </a:p>
        </p:txBody>
      </p:sp>
      <p:sp>
        <p:nvSpPr>
          <p:cNvPr id="5" name="">
            <a:extLst xmlns:a="http://schemas.openxmlformats.org/drawingml/2006/main">
              <a:ext uri="{FF2B5EF4-FFF2-40B4-BE49-F238E27FC236}">
                <a16:creationId xmlns:a16="http://schemas.microsoft.com/office/drawing/2014/main" id="{25FA7321-34C1-464E-9E5B-573A45C7160E}"/>
              </a:ext>
            </a:extLst>
          </p:cNvPr>
          <p:cNvSpPr>
            <a:spLocks xmlns:a="http://schemas.openxmlformats.org/drawingml/2006/main" noGrp="1"/>
          </p:cNvSpPr>
          <p:nvPr/>
        </p:nvSpPr>
        <p:spPr>
          <a:xfrm xmlns:a="http://schemas.openxmlformats.org/drawingml/2006/main">
            <a:off x="762000" y="60293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243B7"/>
                </a:solidFill>
                <a:latin typeface="Helvetica Neue"/>
                <a:ea typeface="Helvetica Neue"/>
                <a:cs typeface="Helvetica Neue"/>
              </a:defRPr>
            </a:pPr>
            <a:r>
              <a:rPr sz="1575" b="0">
                <a:solidFill>
                  <a:srgbClr val="6243B7"/>
                </a:solidFill>
                <a:latin typeface="Helvetica Neue"/>
                <a:ea typeface="Helvetica Neue"/>
                <a:cs typeface="Helvetica Neue"/>
              </a:rPr>
              <a:t>Kollab team · Maintaining this team</a:t>
            </a:r>
          </a:p>
        </p:txBody>
      </p:sp>
      <p:sp>
        <p:nvSpPr>
          <p:cNvPr id="6" name="">
            <a:extLst xmlns:a="http://schemas.openxmlformats.org/drawingml/2006/main">
              <a:ext uri="{FF2B5EF4-FFF2-40B4-BE49-F238E27FC236}">
                <a16:creationId xmlns:a16="http://schemas.microsoft.com/office/drawing/2014/main" id="{DA09808F-AA6E-413D-9D2D-FA927199AB6F}"/>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5361"/>
                </a:solidFill>
                <a:latin typeface="Helvetica Neue"/>
                <a:ea typeface="Helvetica Neue"/>
                <a:cs typeface="Helvetica Neue"/>
              </a:defRPr>
            </a:pPr>
            <a:r>
              <a:rPr sz="1350" b="0">
                <a:solidFill>
                  <a:srgbClr val="555361"/>
                </a:solidFill>
                <a:latin typeface="Helvetica Neue"/>
                <a:ea typeface="Helvetica Neue"/>
                <a:cs typeface="Helvetica Neue"/>
              </a:rPr>
              <a:t>21</a:t>
            </a:r>
          </a:p>
        </p:txBody>
      </p:sp>
    </p:spTree>
    <p:extLst>
      <p:ext uri="{BB962C8B-B14F-4D97-AF65-F5344CB8AC3E}">
        <p14:creationId xmlns:p14="http://schemas.microsoft.com/office/powerpoint/2010/main" val="681133434"/>
      </p:ext>
    </p:extLst>
  </p:cSld>
</p:sld>
</file>

<file path=ppt/slides/slide22.xml><?xml version="1.0" encoding="utf-8"?>
<p:sld xmlns:p="http://schemas.openxmlformats.org/presentationml/2006/main">
  <p:cSld>
    <p:bg>
      <p:bgPr>
        <a:solidFill xmlns:a="http://schemas.openxmlformats.org/drawingml/2006/main">
          <a:srgbClr val="2520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399ED8-947D-494F-9B3E-55036A6F564F}"/>
              </a:ext>
            </a:extLst>
          </p:cNvPr>
          <p:cNvSpPr>
            <a:spLocks xmlns:a="http://schemas.openxmlformats.org/drawingml/2006/main" noGrp="1"/>
          </p:cNvSpPr>
          <p:nvPr/>
        </p:nvSpPr>
        <p:spPr>
          <a:xfrm xmlns:a="http://schemas.openxmlformats.org/drawingml/2006/main">
            <a:off x="704850" y="552450"/>
            <a:ext cx="10782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8F7F3"/>
                </a:solidFill>
                <a:latin typeface="Helvetica Neue"/>
                <a:ea typeface="Helvetica Neue"/>
                <a:cs typeface="Helvetica Neue"/>
              </a:defRPr>
            </a:pPr>
            <a:r>
              <a:rPr sz="3600" b="1">
                <a:solidFill>
                  <a:srgbClr val="F8F7F3"/>
                </a:solidFill>
                <a:latin typeface="Helvetica Neue"/>
                <a:ea typeface="Helvetica Neue"/>
                <a:cs typeface="Helvetica Neue"/>
              </a:rPr>
              <a:t>Ready to use Kollab</a:t>
            </a:r>
          </a:p>
        </p:txBody>
      </p:sp>
      <p:sp>
        <p:nvSpPr>
          <p:cNvPr id="2" name="">
            <a:extLst xmlns:a="http://schemas.openxmlformats.org/drawingml/2006/main">
              <a:ext uri="{FF2B5EF4-FFF2-40B4-BE49-F238E27FC236}">
                <a16:creationId xmlns:a16="http://schemas.microsoft.com/office/drawing/2014/main" id="{849849DE-13A9-4605-8B94-21DBBE22069D}"/>
              </a:ext>
            </a:extLst>
          </p:cNvPr>
          <p:cNvSpPr>
            <a:spLocks xmlns:a="http://schemas.openxmlformats.org/drawingml/2006/main" noGrp="1"/>
          </p:cNvSpPr>
          <p:nvPr/>
        </p:nvSpPr>
        <p:spPr>
          <a:xfrm xmlns:a="http://schemas.openxmlformats.org/drawingml/2006/main">
            <a:off x="781050" y="22860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8F7F3"/>
                </a:solidFill>
                <a:latin typeface="Helvetica Neue"/>
                <a:ea typeface="Helvetica Neue"/>
                <a:cs typeface="Helvetica Neue"/>
              </a:defRPr>
            </a:pPr>
            <a:r>
              <a:rPr sz="2850" b="0">
                <a:solidFill>
                  <a:srgbClr val="F8F7F3"/>
                </a:solidFill>
                <a:latin typeface="Helvetica Neue"/>
                <a:ea typeface="Helvetica Neue"/>
                <a:cs typeface="Helvetica Neue"/>
              </a:rPr>
              <a:t>Create a page another person can use.</a:t>
            </a:r>
          </a:p>
        </p:txBody>
      </p:sp>
      <p:sp>
        <p:nvSpPr>
          <p:cNvPr id="3" name="">
            <a:extLst xmlns:a="http://schemas.openxmlformats.org/drawingml/2006/main">
              <a:ext uri="{FF2B5EF4-FFF2-40B4-BE49-F238E27FC236}">
                <a16:creationId xmlns:a16="http://schemas.microsoft.com/office/drawing/2014/main" id="{890343BC-B8B8-4808-B127-2F0C1D92B4AA}"/>
              </a:ext>
            </a:extLst>
          </p:cNvPr>
          <p:cNvSpPr>
            <a:spLocks xmlns:a="http://schemas.openxmlformats.org/drawingml/2006/main" noGrp="1"/>
          </p:cNvSpPr>
          <p:nvPr/>
        </p:nvSpPr>
        <p:spPr>
          <a:xfrm xmlns:a="http://schemas.openxmlformats.org/drawingml/2006/main">
            <a:off x="781050" y="32861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8F7F3"/>
                </a:solidFill>
                <a:latin typeface="Helvetica Neue"/>
                <a:ea typeface="Helvetica Neue"/>
                <a:cs typeface="Helvetica Neue"/>
              </a:defRPr>
            </a:pPr>
            <a:r>
              <a:rPr sz="2850" b="0">
                <a:solidFill>
                  <a:srgbClr val="F8F7F3"/>
                </a:solidFill>
                <a:latin typeface="Helvetica Neue"/>
                <a:ea typeface="Helvetica Neue"/>
                <a:cs typeface="Helvetica Neue"/>
              </a:rPr>
              <a:t>Choose a macro because it helps the reader.</a:t>
            </a:r>
          </a:p>
        </p:txBody>
      </p:sp>
      <p:sp>
        <p:nvSpPr>
          <p:cNvPr id="4" name="">
            <a:extLst xmlns:a="http://schemas.openxmlformats.org/drawingml/2006/main">
              <a:ext uri="{FF2B5EF4-FFF2-40B4-BE49-F238E27FC236}">
                <a16:creationId xmlns:a16="http://schemas.microsoft.com/office/drawing/2014/main" id="{63BB815B-A3E5-463F-B427-8600FD9DCC5E}"/>
              </a:ext>
            </a:extLst>
          </p:cNvPr>
          <p:cNvSpPr>
            <a:spLocks xmlns:a="http://schemas.openxmlformats.org/drawingml/2006/main" noGrp="1"/>
          </p:cNvSpPr>
          <p:nvPr/>
        </p:nvSpPr>
        <p:spPr>
          <a:xfrm xmlns:a="http://schemas.openxmlformats.org/drawingml/2006/main">
            <a:off x="781050" y="42862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8F7F3"/>
                </a:solidFill>
                <a:latin typeface="Helvetica Neue"/>
                <a:ea typeface="Helvetica Neue"/>
                <a:cs typeface="Helvetica Neue"/>
              </a:defRPr>
            </a:pPr>
            <a:r>
              <a:rPr sz="2850" b="0">
                <a:solidFill>
                  <a:srgbClr val="F8F7F3"/>
                </a:solidFill>
                <a:latin typeface="Helvetica Neue"/>
                <a:ea typeface="Helvetica Neue"/>
                <a:cs typeface="Helvetica Neue"/>
              </a:rPr>
              <a:t>Know the scope before changing access or restoring data.</a:t>
            </a:r>
          </a:p>
        </p:txBody>
      </p:sp>
      <p:sp>
        <p:nvSpPr>
          <p:cNvPr id="5" name="">
            <a:extLst xmlns:a="http://schemas.openxmlformats.org/drawingml/2006/main">
              <a:ext uri="{FF2B5EF4-FFF2-40B4-BE49-F238E27FC236}">
                <a16:creationId xmlns:a16="http://schemas.microsoft.com/office/drawing/2014/main" id="{AEA0D889-E6AE-4D8C-A342-E34870D32236}"/>
              </a:ext>
            </a:extLst>
          </p:cNvPr>
          <p:cNvSpPr>
            <a:spLocks xmlns:a="http://schemas.openxmlformats.org/drawingml/2006/main" noGrp="1"/>
          </p:cNvSpPr>
          <p:nvPr/>
        </p:nvSpPr>
        <p:spPr>
          <a:xfrm xmlns:a="http://schemas.openxmlformats.org/drawingml/2006/main">
            <a:off x="11144250" y="6219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AD4E9"/>
                </a:solidFill>
                <a:latin typeface="Helvetica Neue"/>
                <a:ea typeface="Helvetica Neue"/>
                <a:cs typeface="Helvetica Neue"/>
              </a:defRPr>
            </a:pPr>
            <a:r>
              <a:rPr sz="1350" b="0">
                <a:solidFill>
                  <a:srgbClr val="DAD4E9"/>
                </a:solidFill>
                <a:latin typeface="Helvetica Neue"/>
                <a:ea typeface="Helvetica Neue"/>
                <a:cs typeface="Helvetica Neue"/>
              </a:rPr>
              <a:t>22</a:t>
            </a:r>
          </a:p>
        </p:txBody>
      </p:sp>
    </p:spTree>
    <p:extLst>
      <p:ext uri="{BB962C8B-B14F-4D97-AF65-F5344CB8AC3E}">
        <p14:creationId xmlns:p14="http://schemas.microsoft.com/office/powerpoint/2010/main" val="398414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2026-09-12T13:53:29.6310000Z</dcterms:created>
  <dcterms:modified xsi:type="dcterms:W3CDTF">2026-09-12T13:53:29.6310000Z</dcterms:modified>
</coreProperties>
</file>